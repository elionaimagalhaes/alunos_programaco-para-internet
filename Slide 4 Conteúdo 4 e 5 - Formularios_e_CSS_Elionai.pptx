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55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aula. Apresente a ideia central: formulários são pontos de interação; CSS cuida da apresentação; acessibilidade deve ser pensada desde o primeiro campo. Explique que a aula terá exemplos práticos e que os alunos poderão reproduzir com VS Code e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como contrato didático. Explique que os exemplos não pretendem criar um sistema completo, mas formar uma base sólida para páginas mais corretas, legíveis e fáceis de manter. Link sugerido: https://developer.mozilla.org/en-US/docs/Learn_web_development/Extensions/Forms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a separação de responsabilidades. O material do IFB destaca que o CSS facilita a manutenção porque uma regra pode ser reaproveitada em várias páginas. Link: https://developer.mozilla.org/en-US/docs/Web/HTML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exemplos do cotidiano: entrar no Moodle, fazer login, preencher inscrição de evento, comprar um produto. Mostre que um formulário ruim pode impedir uma pessoa de concluir uma tarefa importante.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action e method aparecem quando há backend. Para a prática local, o formulário pode não enviar para um servidor, mas os campos, labels e validações já funcionam no navegador. Fonte de apoio: MDN form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a diferença entre id e name. Id identifica o elemento na página; name identifica o dado enviado. Mostre que clicar no label também coloca o foco no campo quando a associação está correta.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type="email" não substitui validação no servidor, mas melhora a experiência inicial. Sugira testar no celular ou no modo responsivo do navegador para observar mudanças no teclado virtual.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 apresentação pode variar entre navegadores, mas a intenção semântica continua útil. Destaque que, em sistemas reais, limites também precisam ser conferidos no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para decidirem: estado civil, turno preferido, interesses, estado brasileiro. Explique que controles visualmente parecidos podem ter significados diferentes e isso afeta o envio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Fale sobre o cuidado de não pedir mais dados do que o necessário. Em upload, explique que accept ajuda o usuário, mas não garante segurança; o servidor deve validar tipo e tamanho do arquivo.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Aponte que botões genéricos geram insegurança. Para acessibilidade e usabilidade, a pessoa deve saber o que acontecerá ao ativar o botão. Evite reset sem confirmação, pois ele pode apagar trabalho do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criando um arquivo HTML simples e tentando enviar um campo obrigatório vazio. Link sugerido: https://developer.mozilla.org/en-US/docs/Learn_web_development/Extensions/Forms/Form_validation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exemplo: senha com no mínimo 8 caracteres. Mostre que a regra não deve surgir apenas no erro; a instrução deve aparecer antes. Referência: MDN minlength e maxlength.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pattern é poderoso, mas pode frustrar. Em um curso introdutório, use exemplos simples, como CEP. Referência: https://developer.mozilla.org/en-US/docs/Web/HTML/Reference/Attributes/pattern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com WCAG 3.3.1, que trata identificação de erros. Explique que cor vermelha sozinha não basta, pois algumas pessoas podem não perceber a diferença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acessibilidade não é um acabamento final: é parte da qualidade do código. Link: https://web.dev/learn/forms/accessibility e WCAG 2.2.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perguntas com radio. Sem legend, a pessoa pode ouvir apenas “Manhã” ou “Noite”, sem saber a pergunta. Referência: MDN fieldset.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ARIA deve ser usado para complementar a semântica quando necessário. Evite ARIA para corrigir um HTML mal estruturado quando um elemento nativo resolve melhor. Referência: MDN aria-describedby.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para testar qualquer formulário sem tocar no mouse. Se não conseguirem saber onde estão, há problema de foco. Mostre :focus no CSS como forma de estilizar estados acessíveis.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com o material anexo, que mostra o problema de repetir formatação em cada página e a solução com arquivo CSS externo compartilhado entre documentos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três métodos e explique a recomendação. Inline pode ser útil em testes rápidos, mas dificulta manutenção. Folhas externas combinam melhor com projetos maiores.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analogia: “quem será alterado?” é o seletor; “o que será alterado?” é a propriedade; “como ficará?” é o valor. Exemplo: p { color: blue;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a diferença entre class e id, destacada nos materiais anexos. Use exemplo de cards ou parágrafos. Explique que id tem especificidade alta e pode tornar manutenção mais difícil.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Aproveite o diagrama de árvore HTML. Mostre que a diferença entre filho e descendente evita estilos vazando para lugares não planejados, tema presente no material de CSS anexado.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uma demonstração rápida com input:focus e input:invalid. Explique que estados visuais precisam ser perceptíveis por contraste, borda, texto ou ícone, não só por alteração de cor.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palavra cascata como queda de decisões. Reforce que !important deve ser exceção. Referência contemporânea: MDN Specificity e CSS Cascading and Inheritance.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body { font-family: Arial; color: #222; }. Depois mostre que todos os parágrafos herdam, mas uma borda no body não vira borda em cada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com placar: id, classe, elemento. Evite entrar em todos os detalhes formais se o público está nos primeiros períodos; priorize a intuição para resolver conflitos.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desenho no slide. Mostre que até um texto ou botão participa do modelo de caixas. Referência: web.dev Learn CSS Box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diferença entre content-box e border-box. Mostre que muitos projetos aplicam * { box-sizing: border-box; } para simplificar o cálculo de larguras.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para mudar margin, padding e border em um botão. Mostre como pequenas alterações melhoram ou pioram a legibilidade. Relacione ao material de CSS sobre margens, bordas e alinhamento.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responsividade é adaptação do layout ao espaço disponível. Para primeiros períodos, demonstre max-width em um formulário centralizado e width: 100% nos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que tipografia não é apenas estética; afeta compreensão. O material anexado apresenta propriedades como font-family, font-size, font-weight, line-height, letter-spacing e text-shadow.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exemplos de rótulo com fonte 11px e line-height baixo versus uma versão mais confortável. Explique que textos de ajuda e erro também precisam ser legíveis.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com WCAG. Explique que pessoas com baixa visão, daltonismo ou telas ruins podem não perceber diferenças sutis de cor. Use borda, texto, ícone e posição consistente.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Ferramentas gratuitas: VS Code ou qualquer editor de texto, navegador Chrome/Firefox/Edge e DevTools. Link VS Code: https://code.visualstudio.com/download. Peça que os alunos salvem e abram o HTML no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valor da folha externa, como no material anexo: uma alteração no arquivo CSS pode afetar várias páginas. Sugira que os alunos comparem o formulário antes e depois do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esse checklist como fechamento da parte de formulários. Peça que cada aluno avalie o próprio exemplo e também revise o exemplo de um colega. Referências: WCAG 2.2 e web.dev Forms 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Baseado no roteiro anexado: instalar a extensão Web Developer, fixar no navegador, abrir um site como NASA ou Amazon, acessar CSS e desabilitar todos os estilos. Depois discutir o que continuou compreensível e o que dependia demais da aparência.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 o slide em conversa: peça que os alunos identifiquem quais erros já cometeram ou viram em sites. Explique que errar é comum, mas o importante é ter critérios para revisar.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entrega: index.html, style.css e um pequeno relatório com capturas de tela ou descrição dos testes. Critérios: semântica HTML, uso correto de campos, validação, CSS organizado e acessibilidade básica.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para indicar continuidade de estudos. Sugira que os alunos consultem MDN para exemplos atualizados e usem o validador W3C para revisar estrutura HTML. Reforce que os materiais anexos foram incorporados ao roteiro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Programação para internet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715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7DD3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Formulários, validação, acessibilidade e CSS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76656" y="3063240"/>
            <a:ext cx="53035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dá significado ao conteúdo. CSS organiza a apresentação visual. Acessibilidade garante que mais pessoas consigam usar a página com autonomia.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618488"/>
            <a:ext cx="44805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618488"/>
            <a:ext cx="44805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22592" y="173736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87184" y="173736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51776" y="173736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07808" y="1714500"/>
            <a:ext cx="352044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71450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/cadastro.html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223760" y="2276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27797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Nome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29626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488" y="30403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Maria Silva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23760" y="34655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E-mail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0" y="36484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3488" y="37261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maria@email.com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23760" y="4151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Senha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43342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44119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••••••••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472744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4800600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Enviar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da aula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 final da aula, o aluno deverá compreender como construir formulários HTML, escolher tipos de campos adequados, aplicar validações básicas e reconhecer cuidados de acessibilidade. Também deverá entender como o CSS separa conteúdo de apresentação, usando seletores, cascata, herança, modelo de caixas e tipografia.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029968"/>
            <a:ext cx="1645920" cy="1645920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25054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6FEB"/>
                </a:solidFill>
              </a:rPr>
              <a:t>WEB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78040" y="4087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3"/>
                </a:solidFill>
              </a:rPr>
              <a:t>HTML + CSS + Acessibilidade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HTML, CSS e comportamento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uma página web, o HTML descreve a estrutura e o significado do conteúdo, enquanto o CSS define como esse conteúdo será apresentado visualmente. JavaScript pode acrescentar comportamento, mas bons formulários e estilos começam com marcação semântica, nomes claros, rótulos corretos e regras CSS reutilizáveis.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029968"/>
            <a:ext cx="1645920" cy="1645920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25054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6FEB"/>
                </a:solidFill>
              </a:rPr>
              <a:t>WEB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78040" y="4087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3"/>
                </a:solidFill>
              </a:rPr>
              <a:t>HTML + CSS + Acessibilidade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Formulários como ponto de interação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Formulários são áreas da página em que o usuário informa dados, escolhe opções e envia uma solicitação. Eles aparecem em cadastros, pesquisas, login, checkout, filtros e inscrições. Por isso, precisam ser claros, previsíveis, validados corretamente e fáceis de usar por mouse, teclado e leitores de tela.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618488"/>
            <a:ext cx="44805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618488"/>
            <a:ext cx="44805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22592" y="173736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87184" y="173736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51776" y="173736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07808" y="1714500"/>
            <a:ext cx="352044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71450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/cadastro.html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223760" y="2276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27797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Nome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29626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488" y="30403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Maria Silva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23760" y="34655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E-mail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0" y="36484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3488" y="37261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maria@email.com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23760" y="4151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Senha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43342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44119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••••••••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472744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4800600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Enviar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estrutura básica do elemento 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elemento form delimita o conjunto de controles que será enviado. O atributo action indica o destino dos dados e method define a forma de envio. Mesmo quando a aula usa apenas HTML local, é importante entender essa estrutura porque ela prepara a comunicação com servidores e aplicações reais.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&lt;form action="/cadastro" method="post"&gt;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&lt;label for="nome"&gt;Nome&lt;/label&gt;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&lt;input id="nome" name="nome"&gt;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&lt;button type="submit"&gt;Enviar&lt;/button&gt;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&lt;/form&gt;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Rótulos e nomes dos campos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campo deve ter um rótulo visível e associado ao controle. O atributo for do label deve apontar para o id do input. Já o atributo name é o nome enviado junto com o valor. Sem esses detalhes, o formulário pode parecer correto, mas fica frágil para servidores e tecnologias assistivas.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&lt;label for="email"&gt;E-mail&lt;/label&gt;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id="email" name="email"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type="email"&gt;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Campos de texto e entrada curta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tipos text, email, password, search, tel e url representam entradas curtas, mas cada um comunica uma intenção diferente ao navegador. Em dispositivos móveis, essa escolha pode alterar o teclado exibido. Em validação, email e url já possuem regras básicas nativas, úteis para evitar erros simples.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618488"/>
            <a:ext cx="44805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618488"/>
            <a:ext cx="44805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22592" y="173736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87184" y="173736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51776" y="173736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07808" y="1714500"/>
            <a:ext cx="352044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71450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/cadastro.html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223760" y="2276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27797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Nome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29626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488" y="30403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Maria Silva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23760" y="34655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E-mail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0" y="36484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3488" y="37261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maria@email.com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23760" y="4151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Senha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43342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44119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••••••••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472744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4800600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Enviar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Números, datas e limites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como number, date, time, month e range ajudam o navegador a oferecer controles mais adequados ao tipo de dado. Atributos como min, max e step orientam limites e intervalos. Essa combinação reduz digitação manual, melhora a consistência dos dados e facilita a validação inicial.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type="number" min="1" max="10"&gt;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type="date" name="nascimento"&gt;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type="range" min="0" max="100"&gt;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Escolhas: radio, checkbox e select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o usuário precisa escolher, devemos selecionar o controle conforme a regra da pergunta. Radio é adequado para uma única opção entre alternativas. Checkbox funciona para itens independentes ou múltiplas escolhas. Select economiza espaço quando há muitas opções, mas pode esconder alternativas importantes.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type="radio" name="turno"&gt; Manhã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type="checkbox" name="aceite"&gt; Aceito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&lt;select name="curso"&gt;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&lt;option&gt;ADS&lt;/option&gt;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&lt;/select&gt;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Área de texto e upload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Textarea é usado quando o usuário precisa digitar textos maiores, como observações, justificativas ou mensagens. O input file permite selecionar arquivos do dispositivo. Nesses casos, instruções claras são indispensáveis: limite de tamanho, formatos aceitos, exemplo esperado e informação sobre obrigatoriedade.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&lt;textarea name="mensagem" rows="5"&gt;&lt;/textarea&gt;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type="file" accept=".pdf,.docx"&gt;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Botões e intenção de 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Botões precisam deixar clara a ação que será executada. O tipo submit envia o formulário; reset limpa valores; button não executa envio por padrão e costuma ser usado com JavaScript. Em interfaces reais, o texto do botão deve ser específico, como “Salvar inscrição”, em vez de apenas “OK”.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&lt;button type="submit"&gt;Salvar&lt;/button&gt;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&lt;button type="reset"&gt;Limpar&lt;/button&gt;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&lt;button type="button"&gt;Pré-visualizar&lt;/button&gt;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Validação nativa do HTML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validação nativa do HTML permite indicar regras simples sem escrever JavaScript. O navegador pode impedir o envio quando required, minlength, maxlength, min, max, type e pattern não são respeitados. Essa validação melhora a experiência, mas não substitui a verificação de segurança no servidor.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type="email" required&gt;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minlength="8" maxlength="20"&gt;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pattern="[0-9]{5}"&gt;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required, minlength e maxlength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atributo required informa que o campo precisa ser preenchido antes do envio. Minlength e maxlength limitam a quantidade de caracteres, ajudando a padronizar entradas como nomes de usuário, senhas e códigos. Essas regras devem fazer sentido para o usuário e ser acompanhadas de instruções visíveis.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618488"/>
            <a:ext cx="44805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618488"/>
            <a:ext cx="44805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22592" y="173736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87184" y="173736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51776" y="173736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07808" y="1714500"/>
            <a:ext cx="352044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71450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/cadastro.html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223760" y="2276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27797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Nome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29626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488" y="30403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Maria Silva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23760" y="34655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E-mail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0" y="36484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3488" y="37261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maria@email.com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23760" y="4151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174"/>
                </a:solidFill>
              </a:rPr>
              <a:t>Senha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433425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441198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033"/>
                </a:solidFill>
              </a:rPr>
              <a:t>••••••••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472744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4800600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Enviar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e expressões regulares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atributo pattern permite exigir que o valor siga uma expressão regular. Ele é útil para códigos, matrículas e formatos simples, mas deve ser usado com cuidado. Máscaras muito rígidas podem rejeitar entradas válidas. Sempre informe o formato esperado por texto, não apenas por placeholder.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&lt;label for="cep"&gt;CEP&lt;/label&gt;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id="cep" name="cep"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pattern="[0-9]{5}-[0-9]{3}"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placeholder="29000-000"&gt;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Mensagens de erro compreensíveis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boa validação não apenas bloqueia o envio; ela ajuda o usuário a corrigir o problema. Mensagens como “inválido” são vagas. Prefira explicar o que está errado e como ajustar. Para acessibilidade, o erro precisa estar em texto, próximo ao campo e perceptível por tecnologias assistivas.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Campo: E-mail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Valor: maria@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Erro ruim: inválido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Erro bom: informe um e-mail completo, como nome@dominio.com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Acessibilidade desde o primeiro campo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Acessibilidade significa permitir que pessoas com diferentes capacidades, dispositivos e contextos consigam usar a página. Em formulários, isso envolve rótulos associados, ordem lógica de navegação, foco visível, mensagens de erro claras, contraste adequado e possibilidade de preencher tudo usando apenas o teclado.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029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3"/>
                </a:solidFill>
              </a:rPr>
              <a:t>Teste sem mouse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43800" y="280720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29535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33"/>
                </a:solidFill>
              </a:rPr>
              <a:t>Tab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0" y="280720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9535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33"/>
                </a:solidFill>
              </a:rPr>
              <a:t>Tab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46920" y="280720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6920" y="29535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33"/>
                </a:solidFill>
              </a:rPr>
              <a:t>Enter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89920" y="280720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524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0" y="295351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33"/>
                </a:solidFill>
              </a:rPr>
              <a:t>Foco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60920" y="3858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26174"/>
                </a:solidFill>
              </a:rPr>
              <a:t>A ordem visual deve acompanhar a ordem de foco.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label, fieldset e legend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label identifica um campo individual, enquanto fieldset e legend agrupam controles relacionados. Essa organização é muito importante em listas de radio e checkbox, porque o usuário precisa entender a pergunta geral e cada alternativa. Para leitores de tela, o grupo fornece contexto antes da escolha.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&lt;fieldset&gt;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&lt;legend&gt;Turno preferido&lt;/legend&gt;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&lt;label&gt;&lt;input type="radio" name="turno"&gt; Manhã&lt;/label&gt;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&lt;label&gt;&lt;input type="radio" name="turno"&gt; Noite&lt;/label&gt;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&lt;/fieldset&gt;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Ajuda contextual com aria-describedby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um campo precisa de explicação adicional, podemos associar um texto de ajuda com aria-describedby. Isso conecta o input a uma descrição complementar, útil para instruções, dicas e erros. O recurso deve complementar HTML semântico, não substituir labels visíveis e bem escritos.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&lt;label for="senha"&gt;Senha&lt;/label&gt;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&lt;input id="senha" aria-describedby="ajuda-senha"&gt;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&lt;small id="ajuda-senha"&gt;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Use pelo menos 8 caracteres.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&lt;/small&gt;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Teclado, foco e ordem de leitura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Muitos usuários navegam com Tab, Shift+Tab, Enter, Espaço e setas. Portanto, a página precisa ter ordem lógica de foco e indicação visual clara do elemento ativo. Evite remover outline sem alternativa. Um bom formulário deve ser completamente compreensível e operável sem uso do mouse.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029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3"/>
                </a:solidFill>
              </a:rPr>
              <a:t>Teste sem mouse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43800" y="280720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29535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33"/>
                </a:solidFill>
              </a:rPr>
              <a:t>Tab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0" y="280720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9535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33"/>
                </a:solidFill>
              </a:rPr>
              <a:t>Tab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46920" y="280720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6920" y="29535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33"/>
                </a:solidFill>
              </a:rPr>
              <a:t>Enter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89920" y="280720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524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0" y="295351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33"/>
                </a:solidFill>
              </a:rPr>
              <a:t>Foco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60920" y="3858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26174"/>
                </a:solidFill>
              </a:rPr>
              <a:t>A ordem visual deve acompanhar a ordem de foco.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CSS: separação entre conteúdo e aparência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significa Cascading Style Sheets, ou folhas de estilo em cascata. Ele descreve como elementos HTML são apresentados: cores, espaçamentos, fontes, bordas, alinhamento e layout. A grande vantagem é separar conteúdo e formatação, permitindo reutilizar regras e alterar várias páginas a partir de um único arquivo.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92808"/>
            <a:ext cx="4480560" cy="301752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578608"/>
            <a:ext cx="333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6F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40880" y="2962656"/>
            <a:ext cx="5166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26174"/>
                </a:solidFill>
              </a:rPr>
              <a:t>seletor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493508" y="2578608"/>
            <a:ext cx="333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54696" y="2578608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color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63256" y="2962656"/>
            <a:ext cx="9372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26174"/>
                </a:solidFill>
              </a:rPr>
              <a:t>propriedade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636508" y="2578608"/>
            <a:ext cx="333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: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97696" y="2578608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A3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blue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06256" y="2962656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26174"/>
                </a:solidFill>
              </a:rPr>
              <a:t>valor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674352" y="2578608"/>
            <a:ext cx="333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;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35540" y="2578608"/>
            <a:ext cx="333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132320" y="37673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033"/>
                </a:solidFill>
              </a:rPr>
              <a:t>regra CSS = seletor + declarações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Três formas de incluir CSS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CSS pode aparecer inline, dentro do atributo style; interno, dentro da tag style no head; ou externo, em um arquivo .css referenciado por link. Para projetos reais, a folha externa costuma ser preferida, pois facilita reaproveitamento, organização e manutenção entre várias páginas.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&lt;!-- Inline --&gt;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&lt;p style="color: blue"&gt;Texto&lt;/p&gt;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&lt;!-- Interno --&gt;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&lt;style&gt;p { color: blue; }&lt;/style&gt;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&lt;!-- Externo --&gt;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&lt;link rel="stylesheet" href="style.css"&gt;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Sintaxe: seletor, propriedade e valor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regra CSS normalmente possui um seletor e um bloco de declarações. O seletor indica quais elementos serão afetados. Cada declaração possui propriedade e valor, separados por dois pontos e finalizados por ponto e vírgula. Essa estrutura simples sustenta desde estilos básicos até interfaces completas.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92808"/>
            <a:ext cx="4480560" cy="301752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578608"/>
            <a:ext cx="333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6F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40880" y="2962656"/>
            <a:ext cx="5166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26174"/>
                </a:solidFill>
              </a:rPr>
              <a:t>seletor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493508" y="2578608"/>
            <a:ext cx="333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54696" y="2578608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color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63256" y="2962656"/>
            <a:ext cx="9372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26174"/>
                </a:solidFill>
              </a:rPr>
              <a:t>propriedade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636508" y="2578608"/>
            <a:ext cx="333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: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97696" y="2578608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A3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blue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06256" y="2962656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26174"/>
                </a:solidFill>
              </a:rPr>
              <a:t>valor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674352" y="2578608"/>
            <a:ext cx="333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;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35540" y="2578608"/>
            <a:ext cx="333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132320" y="37673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033"/>
                </a:solidFill>
              </a:rPr>
              <a:t>regra CSS = seletor + declarações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Seletores básicos: elemento, classe e id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seletor de elemento aplica estilo a uma tag, como p ou h1. A classe, indicada por ponto, pode ser reutilizada em vários elementos. O id, indicado por cerquilha, identifica um elemento específico. Em CSS moderno, prefira classes para padrões reutilizáveis e reserve id para casos realmente únicos.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 { color: #333;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.destaque { font-weight: bold;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#principal { max-width: 960px; 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Combinadores: descendente e filho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Seletores podem considerar a relação entre elementos. O descendente usa espaço, como form input, atingindo inputs em qualquer nível dentro do form. O filho direto usa &gt;, como form &gt; input, alcançando apenas elementos imediatamente dentro do pai. Isso ajuda a aplicar estilos com mais precisão.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2304288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41401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241401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raiz do documento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2962656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307238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body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555480" y="307238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conteúdo visível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52360" y="3621024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373075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555480" y="3730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grupo de campos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52360" y="4279392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438912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label / input / button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55480" y="438912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filhos e descendentes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52360" y="5276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</a:rPr>
              <a:t>Exemplo: form input  ≠  form &gt; input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Pseudo-classes úteis em formulários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Pseudo-classes representam estados dos elementos. Em formulários, :focus indica o campo ativo, :invalid sinaliza valor inválido, :required seleciona campos obrigatórios e :hover mostra interação do ponteiro. Elas permitem feedback visual imediato, mas não devem depender apenas de cor para transmitir informação.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input:focus { outline: 3px solid #2563eb;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input:invalid { border-color: #dc2626;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button:hover { filter: brightness(.95); 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Cascata: como o navegador decide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várias regras CSS afetam o mesmo elemento, o navegador precisa decidir qual valor será aplicado. A cascata considera origem da regra, importância, especificidade e ordem de aparecimento. Entender essa decisão evita “brigas” no CSS e ajuda a corrigir estilos sem recorrer imediatamente a !important.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180136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1874520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033"/>
                </a:solidFill>
              </a:rPr>
              <a:t>1. origem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32520" y="188366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33"/>
                </a:solidFill>
              </a:rPr>
              <a:t>navegador, usuário, autor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2587752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033"/>
                </a:solidFill>
              </a:rPr>
              <a:t>2. importância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69680" y="2596896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33"/>
                </a:solidFill>
              </a:rPr>
              <a:t>!important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60920" y="3227832"/>
            <a:ext cx="3474720" cy="475488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3300984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033"/>
                </a:solidFill>
              </a:rPr>
              <a:t>3. especificidade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06840" y="3310128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33"/>
                </a:solidFill>
              </a:rPr>
              <a:t>id &gt; classe &gt; elemento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98080" y="3941064"/>
            <a:ext cx="3200400" cy="475488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4014216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033"/>
                </a:solidFill>
              </a:rPr>
              <a:t>4. ordem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0" y="4023360"/>
            <a:ext cx="1508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33"/>
                </a:solidFill>
              </a:rPr>
              <a:t>a última regra vence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Herança: estilos que passam adiante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Algumas propriedades CSS são herdadas pelos elementos filhos, como color e font-family. Outras, como margin, border e padding, normalmente não são herdadas. Saber o que herda evita repetição desnecessária e ajuda a definir estilos gerais no body, enquanto ajustes específicos ficam em componentes menores.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2304288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41401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241401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raiz do documento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2962656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307238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body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555480" y="307238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conteúdo visível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52360" y="3621024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373075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555480" y="3730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grupo de campos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52360" y="4279392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438912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label / input / button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55480" y="438912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filhos e descendentes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52360" y="5276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</a:rPr>
              <a:t>Exemplo: form input  ≠  form &gt; input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Especificidade em linguagem simples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Especificidade é o peso de um seletor na disputa da cascata. Ids pesam mais que classes, classes pesam mais que elementos. Se duas regras têm a mesma força e origem, geralmente a que aparece depois vence. Manter seletores simples deixa o CSS mais previsível e fácil de depurar.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#menu        → mais específico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.ativo       → intermediário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button       → mais geral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button.ativo → combinação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caixas: tudo é uma caixa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CSS, cada elemento renderizado pode ser entendido como uma caixa formada por conteúdo, padding, border e margin. O conteúdo é a área interna; padding cria espaço dentro da borda; border desenha o contorno; margin cria distância externa. Compreender isso evita problemas de alinhamento e largura inesperada.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1755648"/>
            <a:ext cx="4023360" cy="3291840"/>
          </a:xfrm>
          <a:prstGeom prst="rect">
            <a:avLst/>
          </a:prstGeom>
          <a:solidFill>
            <a:srgbClr val="FEF3C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828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033"/>
                </a:solidFill>
              </a:rPr>
              <a:t>margin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0" y="2023110"/>
            <a:ext cx="3200400" cy="2756916"/>
          </a:xfrm>
          <a:prstGeom prst="rect">
            <a:avLst/>
          </a:prstGeom>
          <a:solidFill>
            <a:srgbClr val="FDE68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09626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033"/>
                </a:solidFill>
              </a:rPr>
              <a:t>border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09560" y="2290572"/>
            <a:ext cx="2377440" cy="2221992"/>
          </a:xfrm>
          <a:prstGeom prst="rect">
            <a:avLst/>
          </a:prstGeom>
          <a:solidFill>
            <a:srgbClr val="BFDBF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23637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033"/>
                </a:solidFill>
              </a:rPr>
              <a:t>padding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21040" y="2558034"/>
            <a:ext cx="1554480" cy="1687068"/>
          </a:xfrm>
          <a:prstGeom prst="rect">
            <a:avLst/>
          </a:prstGeom>
          <a:solidFill>
            <a:srgbClr val="DBEAF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63118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033"/>
                </a:solidFill>
              </a:rPr>
              <a:t>content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box-sizing e cálculo de largura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padrão, a largura definida em CSS se aplica ao conteúdo, e padding e border podem aumentar o tamanho final do elemento. Com box-sizing: border-box, width passa a incluir conteúdo, padding e border. Essa configuração torna layouts mais previsíveis, especialmente em formulários e componentes responsivos.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.card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box-sizing: border-box;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width: 300px;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padding: 20px;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border: 2px solid #ccc;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Margem, padding e borda na prática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separa um elemento dos vizinhos. Padding cria respiro entre conteúdo e borda. Border evidencia limites visuais. Em formulários, esses três recursos ajudam a criar campos confortáveis, grupos bem separados e botões legíveis. O excesso, porém, pode quebrar o layout em telas pequenas.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1755648"/>
            <a:ext cx="4023360" cy="3291840"/>
          </a:xfrm>
          <a:prstGeom prst="rect">
            <a:avLst/>
          </a:prstGeom>
          <a:solidFill>
            <a:srgbClr val="FEF3C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828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033"/>
                </a:solidFill>
              </a:rPr>
              <a:t>margin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0" y="2023110"/>
            <a:ext cx="3200400" cy="2756916"/>
          </a:xfrm>
          <a:prstGeom prst="rect">
            <a:avLst/>
          </a:prstGeom>
          <a:solidFill>
            <a:srgbClr val="FDE68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09626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033"/>
                </a:solidFill>
              </a:rPr>
              <a:t>border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09560" y="2290572"/>
            <a:ext cx="2377440" cy="2221992"/>
          </a:xfrm>
          <a:prstGeom prst="rect">
            <a:avLst/>
          </a:prstGeom>
          <a:solidFill>
            <a:srgbClr val="BFDBF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23637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033"/>
                </a:solidFill>
              </a:rPr>
              <a:t>padding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21040" y="2558034"/>
            <a:ext cx="1554480" cy="1687068"/>
          </a:xfrm>
          <a:prstGeom prst="rect">
            <a:avLst/>
          </a:prstGeom>
          <a:solidFill>
            <a:srgbClr val="DBEAF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63118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033"/>
                </a:solidFill>
              </a:rPr>
              <a:t>content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Unidades e responsividade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oferece unidades absolutas e relativas. Pixels são previsíveis, mas rem, em, %, vw e vh se adaptam melhor a contextos variados. Em páginas responsivas, combinamos width, max-width, media queries e unidades relativas para criar interfaces que funcionem em notebooks, tablets e celulares.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width: 100%;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max-width: 480px;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padding: 1rem;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font-size: clamp(1rem, 2vw, 1.25rem);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Tipografia: leitura antes de decoração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Tipografia envolve fonte, tamanho, peso, espaçamento entre linhas e hierarquia visual. Em páginas web, o objetivo principal é leitura. Uma boa escolha de font-family, font-size e line-height ajuda o usuário a compreender rapidamente títulos, rótulos, instruções, erros e conteúdo principal.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body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font-family: Arial, sans-serif;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font-size: 16px;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line-height: 1.5;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h1 { font-size: 2rem; 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Fonte, peso e espaçamento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Propriedades de texto e fonte controlam a aparência das palavras. Font-weight define intensidade do negrito; font-size define tamanho; line-height melhora respiro vertical; letter-spacing ajusta distância entre letras; text-align organiza alinhamento. Em formulários, rótulos pequenos demais e textos apertados prejudicam a compreensão.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font-family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font-size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font-weight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line-height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letter-spacing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text-align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Cores, contraste e significado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Cores ajudam a criar identidade visual e indicar estados, mas não devem ser o único meio de comunicação. Um campo com erro precisa de texto explicativo, não apenas borda vermelha. Também é necessário garantir contraste suficiente entre texto e fundo, principalmente em rótulos, botões e mensagens.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:focus  → borda azul + outline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erro    → texto + ícone + borda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sucesso → mensagem clara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contraste adequado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Prática 1: criar um formulário acessível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exercitar, crie um arquivo index.html com um formulário de inscrição simples. Inclua nome, e-mail, curso, turno preferido e aceite dos termos. Associe labels corretamente, use required nos campos obrigatórios, agrupe radios com fieldset e teste se tudo pode ser preenchido usando apenas o teclado.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Criar index.html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Adicionar form, label e input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Usar required e type="email"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Agrupar opções com fieldset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Testar envio e navegação por Tab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Prática 2: estilizar com CSS externo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do HTML, crie um arquivo style.css e conecte-o no head com link. Defina fonte geral, largura máxima do formulário, espaçamento entre grupos, aparência dos inputs e estilo do botão. Acrescente regras para :focus e :invalid, observando como o CSS melhora a leitura sem alterar o conteúdo.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Criar style.css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Referenciar com &lt;link&gt;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Estilizar body e form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Aplicar classes em grupos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Criar :focus e :invalid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- 37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rápido de acessibilidade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considerar um formulário pronto, revise alguns pontos: todos os campos têm label; instruções aparecem antes do erro; mensagens são claras; o foco é visível; a ordem de tabulação faz sentido; radio e checkbox estão agrupados; contraste e tamanho de texto permitem leitura confortável.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✓ label associado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✓ instruções visíveis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✓ erro textual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✓ foco visível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✓ navegação por teclado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✓ contraste suficiente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Prática 3: ver uma página sem CSS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atividade interessante é desabilitar o CSS de um site conhecido usando a extensão Web Developer. Ao remover os estilos, fica mais fácil perceber a diferença entre estrutura e apresentação. Sites bem construídos ainda mantêm leitura básica, ordem lógica de conteúdo e elementos compreensíveis.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Instalar Web Developer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Abrir um site conhecido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Menu CSS → Disable All Styles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Comparar antes/depois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Identificar estrutura HTML restante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- 39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Erros comuns a evitar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Alguns erros aparecem com frequência em páginas iniciais: usar placeholder como único rótulo, esquecer name nos campos, remover outline, criar mensagens de erro apenas por cor, repetir CSS inline em cada elemento, abusar de id e !important ou usar espaçamentos que funcionam apenas em uma resolução.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Sem label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Placeholder como único rótulo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CSS inline em excesso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!important em tudo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Outline removido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Contraste fraco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- 40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Exercício de fixação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5285232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lang="en-US" sz="240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atividade de fixação, desenvolva um formulário de inscrição para um minicurso. Ele deve conter dados pessoais, escolha de turno, justificativa em textarea e botão de envio. O CSS deve ficar em arquivo externo. Ao final, teste validações, navegação por teclado e contraste visual.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37960" y="1207008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01368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911096"/>
            <a:ext cx="42611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Desafio: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Criar um formulário de inscrição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Estilizar com CSS externo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Testar validação nativa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Registrar 3 melhorias de acessibilidade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- 41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Referências e materiais de apoio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801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97280"/>
            <a:ext cx="1097280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98448"/>
            <a:ext cx="1037844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Material anexo: Desenvolvedor Web — IFB, seção Fundamentos de Webdesign, HTML e Introdução ao CSS.</a:t>
            </a:r>
            <a:endParaRPr lang="en-US" sz="1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Material anexo: Assunto 5 — CSS, formatação com folhas de estilo, seletores, margens, bordas e alinhamento.</a:t>
            </a:r>
            <a:endParaRPr lang="en-US" sz="1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Material anexo: Introdução ao CSS — roteiro da extensão Web Developer para desabilitar CSS.</a:t>
            </a:r>
            <a:endParaRPr lang="en-US" sz="1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MDN Web Docs — HTML form, input, label, fieldset, validação de formulários e CSS.</a:t>
            </a:r>
            <a:endParaRPr lang="en-US" sz="1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W3C — Web Content Accessibility Guidelines (WCAG) 2.2 e Quick Reference.</a:t>
            </a:r>
            <a:endParaRPr lang="en-US" sz="1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web.dev — Learn Forms, Learn Accessibility e Learn CSS Box Model.</a:t>
            </a:r>
            <a:endParaRPr lang="en-US" sz="1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Visual Studio Code — editor gratuito; W3C Markup Validation Service — validação de marcação HTML.</a:t>
            </a:r>
            <a:endParaRPr lang="en-US" sz="1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Sugestões de vídeos: canais Curso em Vídeo, MDN/Web Docs, Kevin Powell e Google Chrome Developers sobre HTML, CSS e acessibilidade.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411480" y="6345936"/>
            <a:ext cx="11384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1908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Programação para internet - 42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5508</Words>
  <Application>Microsoft Office PowerPoint</Application>
  <PresentationFormat>Widescreen</PresentationFormat>
  <Paragraphs>444</Paragraphs>
  <Slides>42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Cascadia Mono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Material didático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para internet: Formulários e CSS</dc:title>
  <dc:subject>Programação para internet - Formulários, acessibilidade e CSS</dc:subject>
  <dc:creator>Professor Msc Elionai Magalhães</dc:creator>
  <cp:lastModifiedBy>Elionai</cp:lastModifiedBy>
  <cp:revision>1</cp:revision>
  <dcterms:created xsi:type="dcterms:W3CDTF">2026-08-28T10:45:30Z</dcterms:created>
  <dcterms:modified xsi:type="dcterms:W3CDTF">2026-08-28T11:07:19Z</dcterms:modified>
</cp:coreProperties>
</file>