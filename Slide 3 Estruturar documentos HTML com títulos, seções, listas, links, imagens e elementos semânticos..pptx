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j/GTI3RgH1MzJMvOTRWw/YcAeH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 — HTML: estrutura de documentos para a Web</a:t>
            </a:r>
            <a:br>
              <a:rPr lang="en-US"/>
            </a:br>
            <a:br>
              <a:rPr lang="en-US"/>
            </a:br>
            <a:r>
              <a:rPr lang="en-US"/>
              <a:t>Explique que HTML não é linguagem de programação no sentido clássico; é uma linguagem de marcação usada para estruturar conteúdo. Relacione com o navegador: o código HTML é lido pelo navegador e transformado em uma página visual. Faça a transição dizendo que a aula começa pelos fundamentos e termina com uma prática guiada.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 — Por que estrutura HTML importa?</a:t>
            </a:r>
            <a:br>
              <a:rPr lang="en-US"/>
            </a:br>
            <a:br>
              <a:rPr lang="en-US"/>
            </a:br>
            <a:r>
              <a:rPr lang="en-US"/>
              <a:t>Antecipe uma dúvida comum: “se aparece no navegador, está certo?”. Mostre que funcionar visualmente não significa estar bem estruturado. Enfatize que graduação exige pensar em manutenção, acessibilidade, padronização e leitura por máquinas.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 — Objetivos de aprendizagem</a:t>
            </a:r>
            <a:br>
              <a:rPr lang="en-US"/>
            </a:br>
            <a:br>
              <a:rPr lang="en-US"/>
            </a:br>
            <a:r>
              <a:rPr lang="en-US"/>
              <a:t>Leia os objetivos como critérios de desempenho. Diga que, ao final, os estudantes deverão entregar uma página HTML simples e justificá-la tecnicamente. Faça a ponte para as ferramentas gratuitas usadas na aula.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 — Ferramentas gratuitas para a aula</a:t>
            </a:r>
            <a:br>
              <a:rPr lang="en-US"/>
            </a:br>
            <a:br>
              <a:rPr lang="en-US"/>
            </a:br>
            <a:r>
              <a:rPr lang="en-US"/>
              <a:t>Explique que os estudantes não precisam de servidor para o primeiro exemplo: um arquivo HTML pode ser aberto diretamente no navegador. Se a turma usar laboratório institucional, confirme permissões de instalação; caso não seja possível instalar, use editor online ou editor de texto simples.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 — O que é HTML?</a:t>
            </a:r>
            <a:br>
              <a:rPr lang="en-US"/>
            </a:br>
            <a:br>
              <a:rPr lang="en-US"/>
            </a:br>
            <a:r>
              <a:rPr lang="en-US"/>
              <a:t>Defina hypertext como texto conectado por links. Defina markup como marcação: sinais que indicam ao navegador o papel do conteúdo. Diferencie HTML de CSS e JavaScript sem aprofundar: HTML estrutura, CSS estiliza e JavaScript adiciona comportamento.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6 — Tags, elementos e atributos</a:t>
            </a:r>
            <a:br>
              <a:rPr lang="en-US"/>
            </a:br>
            <a:br>
              <a:rPr lang="en-US"/>
            </a:br>
            <a:r>
              <a:rPr lang="en-US"/>
              <a:t>Explique com calma a diferença entre tag e elemento, pois é um erro comum usar os termos como sinônimos. Mostre que atributos ficam na tag de abertura e geralmente usam nome="valor". Faça transição para a estrutura mínima do documento.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7 — Estrutura mínima de um documento HTML</a:t>
            </a:r>
            <a:br>
              <a:rPr lang="en-US"/>
            </a:br>
            <a:br>
              <a:rPr lang="en-US"/>
            </a:br>
            <a:r>
              <a:rPr lang="en-US"/>
              <a:t>Explique metadados como informações sobre a página. Mostre que lang="pt-BR" ajuda tecnologias de leitura e mecanismos de interpretação. Explique charset UTF-8 como codificação que evita problemas com acentos.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 — Passo a passo: criar a primeira página</a:t>
            </a:r>
            <a:br>
              <a:rPr lang="en-US"/>
            </a:br>
            <a:br>
              <a:rPr lang="en-US"/>
            </a:br>
            <a:r>
              <a:rPr lang="en-US"/>
              <a:t>Demonstração sugerida: use VS Code, crie a pasta e o arquivo index.html. Escreva o código mínimo do slide anterior. Abra o arquivo no navegador. Altere o título no &lt;h1&gt; e atualize a página para mostrar a relação entre arquivo e renderização.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9 — Hierarquia de títulos: h1 a h6</a:t>
            </a:r>
            <a:br>
              <a:rPr lang="en-US"/>
            </a:br>
            <a:br>
              <a:rPr lang="en-US"/>
            </a:br>
            <a:r>
              <a:rPr lang="en-US"/>
              <a:t>Explique que hierarquia é semelhante a capítulos, seções e subseções de um livro. Erro comum: pular de h1 para h4 por aparência. Enfatize que aparência deve ser ajustada com CSS, não com escolha incorreta de título.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 — Seções: dividir conteúdo em blocos lógicos</a:t>
            </a:r>
            <a:br>
              <a:rPr lang="en-US"/>
            </a:br>
            <a:br>
              <a:rPr lang="en-US"/>
            </a:br>
            <a:r>
              <a:rPr lang="en-US"/>
              <a:t>Compare seções com capítulos de um relatório acadêmico. Explique que uma página sem divisões parece um texto longo e difícil de manter. Mostre que seções ajudam usuários e ferramentas a compreender a estrutura.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11 — Parágrafos e conteúdo textual</a:t>
            </a:r>
            <a:br>
              <a:rPr lang="en-US"/>
            </a:br>
            <a:br>
              <a:rPr lang="en-US"/>
            </a:br>
            <a:r>
              <a:rPr lang="en-US"/>
              <a:t>Explique que &lt;br&gt; representa quebra de linha, mas não deve substituir parágrafos. Dê exemplo: endereço pode usar quebra de linha; explicação textual deve usar &lt;p&gt;. Faça a ponte para listas, quando o conteúdo é uma sequência ou conjunto de itens.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12 — Listas não ordenadas</a:t>
            </a:r>
            <a:br>
              <a:rPr lang="en-US"/>
            </a:br>
            <a:br>
              <a:rPr lang="en-US"/>
            </a:br>
            <a:r>
              <a:rPr lang="en-US"/>
              <a:t>Explique que escaneável significa fácil de percorrer rapidamente com os olhos. Dê exemplos da área de tecnologia: recursos de um sistema, componentes de um projeto, requisitos de instalação.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13 — Listas ordenadas</a:t>
            </a:r>
            <a:br>
              <a:rPr lang="en-US"/>
            </a:br>
            <a:br>
              <a:rPr lang="en-US"/>
            </a:br>
            <a:r>
              <a:rPr lang="en-US"/>
              <a:t>Mostre a diferença entre ordem lógica e apenas aparência visual. Se inverter os itens muda o sentido, use lista ordenada. Caso contrário, use não ordenada.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228" name="Google Shape;2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14 — Listas aninhadas</a:t>
            </a:r>
            <a:br>
              <a:rPr lang="en-US"/>
            </a:br>
            <a:br>
              <a:rPr lang="en-US"/>
            </a:br>
            <a:r>
              <a:rPr lang="en-US"/>
              <a:t>Explique o termo aninhamento como “um elemento dentro de outro”. Chame atenção para o fechamento correto das tags. Erro comum: colocar a lista filha fora do &lt;li&gt; relacionado.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242" name="Google Shape;24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15 — Links: conectando documentos</a:t>
            </a:r>
            <a:br>
              <a:rPr lang="en-US"/>
            </a:br>
            <a:br>
              <a:rPr lang="en-US"/>
            </a:br>
            <a:r>
              <a:rPr lang="en-US"/>
              <a:t>Explique href como referência hipertextual. Mostre por que “clique aqui” é ruim: fora de contexto, o usuário não sabe para onde vai. Dê exemplo de leitor de tela listando links de uma página.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256" name="Google Shape;25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16 — URLs absolutas e caminhos relativos</a:t>
            </a:r>
            <a:br>
              <a:rPr lang="en-US"/>
            </a:br>
            <a:br>
              <a:rPr lang="en-US"/>
            </a:br>
            <a:r>
              <a:rPr lang="en-US"/>
              <a:t>Explique caminho como rota até um arquivo. Mostre uma estrutura de pastas: index.html, sobre.html e pasta imagens. Erro comum: mover uma imagem e esquecer de atualizar o src.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270" name="Google Shape;27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17 — Imagens no HTML</a:t>
            </a:r>
            <a:br>
              <a:rPr lang="en-US"/>
            </a:br>
            <a:br>
              <a:rPr lang="en-US"/>
            </a:br>
            <a:r>
              <a:rPr lang="en-US"/>
              <a:t>Explique src como source, a origem do arquivo. Explique alt como texto alternativo. Diga que o navegador exibe o alt quando a imagem não carrega e tecnologias assistivas podem ler esse texto.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286" name="Google Shape;28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18 — Texto alternativo: quando e como usar</a:t>
            </a:r>
            <a:br>
              <a:rPr lang="en-US"/>
            </a:br>
            <a:br>
              <a:rPr lang="en-US"/>
            </a:br>
            <a:r>
              <a:rPr lang="en-US"/>
              <a:t>Use exemplos orais: foto de perfil em currículo precisa indicar quem aparece; ícone decorativo ao lado de título pode ter alt vazio. Antecipe erro: alt longo demais ou repetindo legenda próxima.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300" name="Google Shape;3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19 — HTML semântico</a:t>
            </a:r>
            <a:br>
              <a:rPr lang="en-US"/>
            </a:br>
            <a:br>
              <a:rPr lang="en-US"/>
            </a:br>
            <a:r>
              <a:rPr lang="en-US"/>
              <a:t>Defina semântica como significado. Mostre que &lt;div&gt; não informa o propósito do conteúdo; &lt;nav&gt; e &lt;main&gt; informam. Reforce que semântica não é estética, é estrutura e significado.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319" name="Google Shape;31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20 — Elementos semânticos principais</a:t>
            </a:r>
            <a:br>
              <a:rPr lang="en-US"/>
            </a:br>
            <a:br>
              <a:rPr lang="en-US"/>
            </a:br>
            <a:r>
              <a:rPr lang="en-US"/>
              <a:t>Explique que o mesmo elemento pode aparecer em contextos diferentes. &lt;header&gt; pode ser cabeçalho da página ou de um artigo. Mas &lt;main&gt; deve representar o conteúdo principal da página, evitando duplicidade desnecessária.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339" name="Google Shape;33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21 — &lt;section&gt;, &lt;article&gt;, &lt;aside&gt; e &lt;div&gt;</a:t>
            </a:r>
            <a:br>
              <a:rPr lang="en-US"/>
            </a:br>
            <a:br>
              <a:rPr lang="en-US"/>
            </a:br>
            <a:r>
              <a:rPr lang="en-US"/>
              <a:t>Dê contraexemplo: usar &lt;article&gt; para qualquer bloco visual não é correto. Explique que artigo deve fazer sentido de forma mais independente, como postagem, notícia, card de projeto completo ou item de blog.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357" name="Google Shape;35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22 — Árvore do documento</a:t>
            </a:r>
            <a:br>
              <a:rPr lang="en-US"/>
            </a:br>
            <a:br>
              <a:rPr lang="en-US"/>
            </a:br>
            <a:r>
              <a:rPr lang="en-US"/>
              <a:t>Explique pai e filho com analogia de pastas e subpastas. Mostre que um erro de fechamento pode mover partes da página para lugares inesperados. Faça transição para indentação e legibilidade.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373" name="Google Shape;37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23 — Indentação e legibilidade</a:t>
            </a:r>
            <a:br>
              <a:rPr lang="en-US"/>
            </a:br>
            <a:br>
              <a:rPr lang="en-US"/>
            </a:br>
            <a:r>
              <a:rPr lang="en-US"/>
              <a:t>Explique que indentação não altera o resultado visual diretamente, mas ajuda humanos a ler. Demonstre o atalho de formatar documento no editor, se disponível. Avise que o objetivo não é decorar espaçamento, e sim manter padrão.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396" name="Google Shape;39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24 — Comentários em HTML</a:t>
            </a:r>
            <a:br>
              <a:rPr lang="en-US"/>
            </a:br>
            <a:br>
              <a:rPr lang="en-US"/>
            </a:br>
            <a:r>
              <a:rPr lang="en-US"/>
              <a:t>Explique renderizado como aquilo que aparece na tela após o navegador interpretar o HTML. Dê exemplo de comentário útil: explicar uma decisão ou delimitar seções. Diga que comentários não substituem código bem escrito.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412" name="Google Shape;41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25 — Exemplo resolvido: página de portfólio</a:t>
            </a:r>
            <a:br>
              <a:rPr lang="en-US"/>
            </a:br>
            <a:br>
              <a:rPr lang="en-US"/>
            </a:br>
            <a:r>
              <a:rPr lang="en-US"/>
              <a:t>Apresente o exemplo como estudo de caso simplificado. Explique que não será uma página completa com CSS sofisticado; o foco é estrutura HTML. Use este slide para preparar a sequência de construção passo a passo.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426" name="Google Shape;42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26 — Passo 1: cabeçalho e navegação</a:t>
            </a:r>
            <a:br>
              <a:rPr lang="en-US"/>
            </a:br>
            <a:br>
              <a:rPr lang="en-US"/>
            </a:br>
            <a:r>
              <a:rPr lang="en-US"/>
              <a:t>Explique id como identificador único de um elemento no documento. Mostre que href="#sobre" procura um elemento com id="sobre". Alerta: ids não devem se repetir na mesma página.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447" name="Google Shape;44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27 — Passo 2: conteúdo principal</a:t>
            </a:r>
            <a:br>
              <a:rPr lang="en-US"/>
            </a:br>
            <a:br>
              <a:rPr lang="en-US"/>
            </a:br>
            <a:r>
              <a:rPr lang="en-US"/>
              <a:t>Explique que o main não é apenas uma caixa visual, mas a região principal da página. Caso a turma pergunte sobre CSS, diga que a aparência será tratada depois; agora o foco é significado e estrutura.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461" name="Google Shape;46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28 — Passo 3: projetos com articles</a:t>
            </a:r>
            <a:br>
              <a:rPr lang="en-US"/>
            </a:br>
            <a:br>
              <a:rPr lang="en-US"/>
            </a:br>
            <a:r>
              <a:rPr lang="en-US"/>
              <a:t>Explique por que article faz sentido aqui: cada projeto tem significado próprio. Compare com section: projetos é a seção; cada projeto específico é um artigo dentro dela.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475" name="Google Shape;47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29 — Passo 4: imagens com contexto</a:t>
            </a:r>
            <a:br>
              <a:rPr lang="en-US"/>
            </a:br>
            <a:br>
              <a:rPr lang="en-US"/>
            </a:br>
            <a:r>
              <a:rPr lang="en-US"/>
              <a:t>Apresente figure e figcaption como forma de associar imagem e legenda. Explique que alt não é legenda: alt substitui a imagem quando necessário; legenda complementa a imagem visível.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489" name="Google Shape;48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30 — Passo 5: rodapé e contato</a:t>
            </a:r>
            <a:br>
              <a:rPr lang="en-US"/>
            </a:br>
            <a:br>
              <a:rPr lang="en-US"/>
            </a:br>
            <a:r>
              <a:rPr lang="en-US"/>
              <a:t>Explique mailto como esquema que tenta abrir um cliente de e-mail. Alerta de privacidade: use dados fictícios em material de aula e trabalhos públicos, salvo orientação da instituição.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503" name="Google Shape;50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31 — Validação de HTML</a:t>
            </a:r>
            <a:br>
              <a:rPr lang="en-US"/>
            </a:br>
            <a:br>
              <a:rPr lang="en-US"/>
            </a:br>
            <a:r>
              <a:rPr lang="en-US"/>
              <a:t>Defina sintaxe como regras de escrita da linguagem. Explique que o validador aponta problemas, mas a interpretação pedagógica é importante: nem todo aviso tem o mesmo impacto, e validar não substitui teste manual.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517" name="Google Shape;51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32 — Passo a passo: usar o validador W3C</a:t>
            </a:r>
            <a:br>
              <a:rPr lang="en-US"/>
            </a:br>
            <a:br>
              <a:rPr lang="en-US"/>
            </a:br>
            <a:r>
              <a:rPr lang="en-US"/>
              <a:t>Demonstre com um erro proposital: remover uma tag de fechamento ou escrever atributo sem aspas. Mostre que a ferramenta localiza o problema por linha aproximada. Enfatize que o estudante deve compreender a mensagem, não apenas copiar correção.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538" name="Google Shape;53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33 — Inspecionar HTML no navegador</a:t>
            </a:r>
            <a:br>
              <a:rPr lang="en-US"/>
            </a:br>
            <a:br>
              <a:rPr lang="en-US"/>
            </a:br>
            <a:r>
              <a:rPr lang="en-US"/>
              <a:t>Explique DevTools como ferramentas de desenvolvedor do navegador. Demonstre clicar com botão direito e escolher Inspecionar. Alerta: alterar no DevTools é temporário; para salvar, altere o arquivo no editor.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565" name="Google Shape;56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34 — Erros comuns em HTML</a:t>
            </a:r>
            <a:br>
              <a:rPr lang="en-US"/>
            </a:br>
            <a:br>
              <a:rPr lang="en-US"/>
            </a:br>
            <a:r>
              <a:rPr lang="en-US"/>
              <a:t>Peça que os alunos identifiquem qual desses erros já cometeram. Explique que erro de caminho é muito comum quando o arquivo HTML e a imagem não estão na mesma pasta. Faça a ponte para boas práticas.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581" name="Google Shape;58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35 — Boas práticas para documentos HTML</a:t>
            </a:r>
            <a:br>
              <a:rPr lang="en-US"/>
            </a:br>
            <a:br>
              <a:rPr lang="en-US"/>
            </a:br>
            <a:r>
              <a:rPr lang="en-US"/>
              <a:t>Reforce que HTML de qualidade facilita CSS e JavaScript depois. Um código semântico serve como base para estilos, acessibilidade e automação. Faça transição para um laboratório guiado com checklist.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603" name="Google Shape;60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36 — Laboratório guiado: página acadêmica</a:t>
            </a:r>
            <a:br>
              <a:rPr lang="en-US"/>
            </a:br>
            <a:br>
              <a:rPr lang="en-US"/>
            </a:br>
            <a:r>
              <a:rPr lang="en-US"/>
              <a:t>Organize a prática em duplas ou individualmente. Caso não haja internet, o link externo pode ser anotado para teste posterior, mas a estrutura do código pode ser feita localmente. Circule pela sala observando hierarquia e fechamento de tags.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624" name="Google Shape;62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37 — Checklist da página criada</a:t>
            </a:r>
            <a:br>
              <a:rPr lang="en-US"/>
            </a:br>
            <a:br>
              <a:rPr lang="en-US"/>
            </a:br>
            <a:r>
              <a:rPr lang="en-US"/>
              <a:t>Peça que os estudantes façam revisão cruzada: um colega abre o arquivo do outro e aplica o checklist. Explique que revisão por pares é prática comum no desenvolvimento de software.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651" name="Google Shape;65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38 — HTML e acessibilidade básica</a:t>
            </a:r>
            <a:br>
              <a:rPr lang="en-US"/>
            </a:br>
            <a:br>
              <a:rPr lang="en-US"/>
            </a:br>
            <a:r>
              <a:rPr lang="en-US"/>
              <a:t>Explique tecnologias assistivas como leitores de tela e recursos de navegação por teclado. Não aprofunde normas WCAG, mas mostre que decisões simples em HTML têm impacto real para usuários.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673" name="Google Shape;67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39 — HTML, SEO e leitura por máquinas</a:t>
            </a:r>
            <a:br>
              <a:rPr lang="en-US"/>
            </a:br>
            <a:br>
              <a:rPr lang="en-US"/>
            </a:br>
            <a:r>
              <a:rPr lang="en-US"/>
              <a:t>Defina SEO como otimização para mecanismos de busca. Evite prometer posições em ranking. Explique de forma equilibrada: estrutura correta ajuda interpretação, mas SEO envolve muitos fatores além do HTML básico.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692" name="Google Shape;69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40 — Quando usar div?</a:t>
            </a:r>
            <a:br>
              <a:rPr lang="en-US"/>
            </a:br>
            <a:br>
              <a:rPr lang="en-US"/>
            </a:br>
            <a:r>
              <a:rPr lang="en-US"/>
              <a:t>Explique que div não é proibido. O problema é usar div para tudo. Diga que muitos frameworks usam divs por motivos de layout, mas o estudante deve saber escolher semântica quando estrutura conteúdo.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711" name="Google Shape;71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41 — Miniestudo de caso: página mal estruturada</a:t>
            </a:r>
            <a:br>
              <a:rPr lang="en-US"/>
            </a:br>
            <a:br>
              <a:rPr lang="en-US"/>
            </a:br>
            <a:r>
              <a:rPr lang="en-US"/>
              <a:t>Transforme o slide em perguntas: “qual seria a primeira correção?” e “qual erro afeta acessibilidade?”. Estimule os estudantes a justificar a escolha dos elementos.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727" name="Google Shape;72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42 — Atividade prática avaliativa</a:t>
            </a:r>
            <a:br>
              <a:rPr lang="en-US"/>
            </a:br>
            <a:br>
              <a:rPr lang="en-US"/>
            </a:br>
            <a:r>
              <a:rPr lang="en-US"/>
              <a:t>Reserve tempo para execução. Critérios de observação: estrutura semântica, hierarquia de títulos, uso adequado de links e imagens, e evidência de validação. O professor pode pedir entrega do arquivo index.html ou captura do resultado no validador.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743" name="Google Shape;74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43 — Gabarito comentado da atividade</a:t>
            </a:r>
            <a:br>
              <a:rPr lang="en-US"/>
            </a:br>
            <a:br>
              <a:rPr lang="en-US"/>
            </a:br>
            <a:r>
              <a:rPr lang="en-US"/>
              <a:t>Explique que não existe apenas uma resposta correta; há várias soluções válidas se a estrutura fizer sentido. Comente erros esperados: usar h1 em todas as seções, usar link sem href, imagem sem alt, ou section sem título.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765" name="Google Shape;76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44 — Síntese da aula</a:t>
            </a:r>
            <a:br>
              <a:rPr lang="en-US"/>
            </a:br>
            <a:br>
              <a:rPr lang="en-US"/>
            </a:br>
            <a:r>
              <a:rPr lang="en-US"/>
              <a:t>Faça uma retomada rápida dos conceitos principais. Pergunte: “qual elemento indica o conteúdo principal da página?” e “qual atributo descreve imagem?”. Use as respostas para fechar a aula e preparar o próximo conteúdo, possivelmente CSS.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779" name="Google Shape;77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45 — Referências consultadas</a:t>
            </a:r>
            <a:br>
              <a:rPr lang="en-US"/>
            </a:br>
            <a:br>
              <a:rPr lang="en-US"/>
            </a:br>
            <a:r>
              <a:rPr lang="en-US"/>
              <a:t>Informe que as fontes indicadas são adequadas para consulta durante estudos e trabalhos. Oriente os alunos a priorizar documentação oficial e fontes institucionais. Caso disponibilize o arquivo, os links podem ser usados como trilha de aprofundamento.</a:t>
            </a:r>
            <a:br>
              <a:rPr lang="en-US"/>
            </a:br>
            <a:br>
              <a:rPr lang="en-US"/>
            </a:br>
            <a:r>
              <a:rPr lang="en-US"/>
              <a:t>Sugestão de condução: manter linguagem simples, explicar termos técnicos antes de avançar e relacionar o conteúdo ao exemplo prático da página HTML.</a:t>
            </a:r>
            <a:endParaRPr/>
          </a:p>
        </p:txBody>
      </p:sp>
      <p:sp>
        <p:nvSpPr>
          <p:cNvPr id="800" name="Google Shape;80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eveloper.mozilla.org/pt-BR/docs/Web/HTML" TargetMode="External"/><Relationship Id="rId4" Type="http://schemas.openxmlformats.org/officeDocument/2006/relationships/hyperlink" Target="https://developer.mozilla.org/pt-BR/docs/Web/HT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.mozilla.org/en-US/docs/Learn_web_development/Core/Accessibility/HTML" TargetMode="External"/><Relationship Id="rId4" Type="http://schemas.openxmlformats.org/officeDocument/2006/relationships/hyperlink" Target="https://developer.mozilla.org/en-US/docs/Learn_web_development/Core/Accessibility/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earn.microsoft.com/pt-br/training/modules/get-started-with-web-development/" TargetMode="External"/><Relationship Id="rId4" Type="http://schemas.openxmlformats.org/officeDocument/2006/relationships/hyperlink" Target="https://learn.microsoft.com/pt-br/training/modules/get-started-with-web-development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de.visualstudio.com/docs/languages/html" TargetMode="External"/><Relationship Id="rId4" Type="http://schemas.openxmlformats.org/officeDocument/2006/relationships/hyperlink" Target="https://code.visualstudio.com/docs/languages/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mozilla.org/pt-BR/docs/Web/HTML" TargetMode="External"/><Relationship Id="rId4" Type="http://schemas.openxmlformats.org/officeDocument/2006/relationships/hyperlink" Target="https://developer.mozilla.org/pt-BR/docs/Web/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mozilla.org/en-US/docs/Web/HTML/Reference/Elements" TargetMode="External"/><Relationship Id="rId4" Type="http://schemas.openxmlformats.org/officeDocument/2006/relationships/hyperlink" Target="https://developer.mozilla.org/en-US/docs/Web/HTML/Reference/Element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mozilla.org/en-US/docs/Learn_web_development/Core/Structuring_content/Structuring_documents" TargetMode="External"/><Relationship Id="rId4" Type="http://schemas.openxmlformats.org/officeDocument/2006/relationships/hyperlink" Target="https://developer.mozilla.org/en-US/docs/Learn_web_development/Core/Structuring_content/Structuring_document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earn.microsoft.com/pt-br/training/modules/get-started-with-web-development/" TargetMode="External"/><Relationship Id="rId4" Type="http://schemas.openxmlformats.org/officeDocument/2006/relationships/hyperlink" Target="https://learn.microsoft.com/pt-br/training/modules/get-started-with-web-development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mozilla.org/en-US/docs/Web/HTML/Reference/Elements/Heading_Elements" TargetMode="External"/><Relationship Id="rId4" Type="http://schemas.openxmlformats.org/officeDocument/2006/relationships/hyperlink" Target="https://developer.mozilla.org/en-US/docs/Web/HTML/Reference/Elements/Heading_Element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w3.org/WAI/tutorials/page-structure/content/" TargetMode="External"/><Relationship Id="rId4" Type="http://schemas.openxmlformats.org/officeDocument/2006/relationships/hyperlink" Target="https://www.w3.org/WAI/tutorials/page-structure/content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mozilla.org/en-US/docs/Web/HTML/Reference/Elements" TargetMode="External"/><Relationship Id="rId4" Type="http://schemas.openxmlformats.org/officeDocument/2006/relationships/hyperlink" Target="https://developer.mozilla.org/en-US/docs/Web/HTML/Reference/Element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mozilla.org/en-US/docs/Web/HTML/Reference/Elements/ul" TargetMode="External"/><Relationship Id="rId4" Type="http://schemas.openxmlformats.org/officeDocument/2006/relationships/hyperlink" Target="https://developer.mozilla.org/en-US/docs/Web/HTML/Reference/Elements/u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mozilla.org/en-US/docs/Web/HTML/Reference/Elements/ol" TargetMode="External"/><Relationship Id="rId4" Type="http://schemas.openxmlformats.org/officeDocument/2006/relationships/hyperlink" Target="https://developer.mozilla.org/en-US/docs/Web/HTML/Reference/Elements/o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w3.org/WAI/tutorials/page-structure/content/" TargetMode="External"/><Relationship Id="rId4" Type="http://schemas.openxmlformats.org/officeDocument/2006/relationships/hyperlink" Target="https://www.w3.org/WAI/tutorials/page-structure/content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mozilla.org/en-US/docs/Web/HTML/Reference/Elements/a" TargetMode="External"/><Relationship Id="rId4" Type="http://schemas.openxmlformats.org/officeDocument/2006/relationships/hyperlink" Target="https://developer.mozilla.org/en-US/docs/Web/HTML/Reference/Elements/a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mozilla.org/en-US/docs/Web/HTML/Reference/Elements/a" TargetMode="External"/><Relationship Id="rId4" Type="http://schemas.openxmlformats.org/officeDocument/2006/relationships/hyperlink" Target="https://developer.mozilla.org/en-US/docs/Web/HTML/Reference/Elements/a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mozilla.org/en-US/docs/Web/HTML/Reference/Elements/img" TargetMode="External"/><Relationship Id="rId4" Type="http://schemas.openxmlformats.org/officeDocument/2006/relationships/hyperlink" Target="https://developer.mozilla.org/en-US/docs/Web/HTML/Reference/Elements/img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w3.org/WAI/tutorials/images/decision-tree/" TargetMode="External"/><Relationship Id="rId4" Type="http://schemas.openxmlformats.org/officeDocument/2006/relationships/hyperlink" Target="https://www.w3.org/WAI/tutorials/images/decision-tree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mozilla.org/en-US/docs/Glossary/Semantics" TargetMode="External"/><Relationship Id="rId4" Type="http://schemas.openxmlformats.org/officeDocument/2006/relationships/hyperlink" Target="https://developer.mozilla.org/en-US/docs/Glossary/Semantic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mozilla.org/en-US/docs/Learn_web_development/Core/Structuring_content/Structuring_documents" TargetMode="External"/><Relationship Id="rId4" Type="http://schemas.openxmlformats.org/officeDocument/2006/relationships/hyperlink" Target="https://developer.mozilla.org/en-US/docs/Learn_web_development/Core/Structuring_content/Structuring_document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mozilla.org/en-US/docs/Web/HTML/Reference/Elements" TargetMode="External"/><Relationship Id="rId4" Type="http://schemas.openxmlformats.org/officeDocument/2006/relationships/hyperlink" Target="https://developer.mozilla.org/en-US/docs/Web/HTML/Reference/Element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mozilla.org/en-US/docs/Learn_web_development/Core/Structuring_content/Structuring_documents" TargetMode="External"/><Relationship Id="rId4" Type="http://schemas.openxmlformats.org/officeDocument/2006/relationships/hyperlink" Target="https://developer.mozilla.org/en-US/docs/Learn_web_development/Core/Structuring_content/Structuring_document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ode.visualstudio.com/docs/languages/html" TargetMode="External"/><Relationship Id="rId4" Type="http://schemas.openxmlformats.org/officeDocument/2006/relationships/hyperlink" Target="https://code.visualstudio.com/docs/languages/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mozilla.org/en-US/docs/Web/HTML/Reference/Elements" TargetMode="External"/><Relationship Id="rId4" Type="http://schemas.openxmlformats.org/officeDocument/2006/relationships/hyperlink" Target="https://developer.mozilla.org/en-US/docs/Web/HTML/Reference/Element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learn.microsoft.com/pt-br/training/modules/get-started-with-web-development/" TargetMode="External"/><Relationship Id="rId4" Type="http://schemas.openxmlformats.org/officeDocument/2006/relationships/hyperlink" Target="https://learn.microsoft.com/pt-br/training/modules/get-started-with-web-development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mozilla.org/en-US/docs/Web/HTML/Reference/Elements/a" TargetMode="External"/><Relationship Id="rId4" Type="http://schemas.openxmlformats.org/officeDocument/2006/relationships/hyperlink" Target="https://developer.mozilla.org/en-US/docs/Web/HTML/Reference/Elements/a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mozilla.org/en-US/docs/Learn_web_development/Core/Structuring_content/Structuring_documents" TargetMode="External"/><Relationship Id="rId4" Type="http://schemas.openxmlformats.org/officeDocument/2006/relationships/hyperlink" Target="https://developer.mozilla.org/en-US/docs/Learn_web_development/Core/Structuring_content/Structuring_documents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mozilla.org/en-US/docs/Web/HTML/Reference/Elements" TargetMode="External"/><Relationship Id="rId4" Type="http://schemas.openxmlformats.org/officeDocument/2006/relationships/hyperlink" Target="https://developer.mozilla.org/en-US/docs/Web/HTML/Reference/Elements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w3.org/WAI/tutorials/images/decision-tree/" TargetMode="External"/><Relationship Id="rId4" Type="http://schemas.openxmlformats.org/officeDocument/2006/relationships/hyperlink" Target="https://www.w3.org/WAI/tutorials/images/decision-tree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mozilla.org/en-US/docs/Web/HTML/Reference/Elements/a" TargetMode="External"/><Relationship Id="rId4" Type="http://schemas.openxmlformats.org/officeDocument/2006/relationships/hyperlink" Target="https://developer.mozilla.org/en-US/docs/Web/HTML/Reference/Elements/a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validator.w3.org/" TargetMode="External"/><Relationship Id="rId4" Type="http://schemas.openxmlformats.org/officeDocument/2006/relationships/hyperlink" Target="https://validator.w3.org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validator.w3.org/" TargetMode="External"/><Relationship Id="rId4" Type="http://schemas.openxmlformats.org/officeDocument/2006/relationships/hyperlink" Target="https://validator.w3.org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learn.microsoft.com/pt-br/training/modules/get-started-with-web-development/" TargetMode="External"/><Relationship Id="rId4" Type="http://schemas.openxmlformats.org/officeDocument/2006/relationships/hyperlink" Target="https://learn.microsoft.com/pt-br/training/modules/get-started-with-web-development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eveloper.mozilla.org/en-US/docs/Learn_web_development/Core/Accessibility/HTML" TargetMode="External"/><Relationship Id="rId4" Type="http://schemas.openxmlformats.org/officeDocument/2006/relationships/hyperlink" Target="https://developer.mozilla.org/en-US/docs/Learn_web_development/Core/Accessibility/HTML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eveloper.mozilla.org/en-US/docs/Web/HTML/Reference/Elements" TargetMode="External"/><Relationship Id="rId4" Type="http://schemas.openxmlformats.org/officeDocument/2006/relationships/hyperlink" Target="https://developer.mozilla.org/en-US/docs/Web/HTML/Reference/Elements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code.visualstudio.com/docs/languages/html" TargetMode="External"/><Relationship Id="rId4" Type="http://schemas.openxmlformats.org/officeDocument/2006/relationships/hyperlink" Target="https://code.visualstudio.com/docs/languages/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validator.w3.org/" TargetMode="External"/><Relationship Id="rId4" Type="http://schemas.openxmlformats.org/officeDocument/2006/relationships/hyperlink" Target="https://validator.w3.org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eveloper.mozilla.org/en-US/docs/Learn_web_development/Core/Accessibility/HTML" TargetMode="External"/><Relationship Id="rId4" Type="http://schemas.openxmlformats.org/officeDocument/2006/relationships/hyperlink" Target="https://developer.mozilla.org/en-US/docs/Learn_web_development/Core/Accessibility/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eveloper.mozilla.org/en-US/docs/Glossary/Semantics" TargetMode="External"/><Relationship Id="rId4" Type="http://schemas.openxmlformats.org/officeDocument/2006/relationships/hyperlink" Target="https://developer.mozilla.org/en-US/docs/Glossary/Semantics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eveloper.mozilla.org/en-US/docs/Web/HTML/Reference/Elements" TargetMode="External"/><Relationship Id="rId4" Type="http://schemas.openxmlformats.org/officeDocument/2006/relationships/hyperlink" Target="https://developer.mozilla.org/en-US/docs/Web/HTML/Reference/Elements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eveloper.mozilla.org/en-US/docs/Learn_web_development/Core/Accessibility/HTML" TargetMode="External"/><Relationship Id="rId4" Type="http://schemas.openxmlformats.org/officeDocument/2006/relationships/hyperlink" Target="https://developer.mozilla.org/en-US/docs/Learn_web_development/Core/Accessibility/HTML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validator.w3.org/" TargetMode="External"/><Relationship Id="rId4" Type="http://schemas.openxmlformats.org/officeDocument/2006/relationships/hyperlink" Target="https://validator.w3.org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eveloper.mozilla.org/en-US/docs/Learn_web_development/Core/Structuring_content/Structuring_documents" TargetMode="External"/><Relationship Id="rId4" Type="http://schemas.openxmlformats.org/officeDocument/2006/relationships/hyperlink" Target="https://developer.mozilla.org/en-US/docs/Learn_web_development/Core/Structuring_content/Structuring_documents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developer.mozilla.org/pt-BR/docs/Web/HTML" TargetMode="External"/><Relationship Id="rId4" Type="http://schemas.openxmlformats.org/officeDocument/2006/relationships/hyperlink" Target="https://developer.mozilla.org/pt-BR/docs/Web/HTML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eveloper.mozilla.org/en-US/docs/Web/HTML/Reference/Elements" TargetMode="External"/><Relationship Id="rId4" Type="http://schemas.openxmlformats.org/officeDocument/2006/relationships/hyperlink" Target="https://developer.mozilla.org/en-US/docs/Web/HTML/Reference/Elem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HTML: estrutura de documentos para a Web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Visão geral da aula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 página web começa com uma estrutura HTML organizada.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Nesta aula, vamos criar documentos com títulos, seções, listas, links e imagens.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Também veremos elementos semânticos, validação e boas práticas de leitura do código.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046720" y="1554480"/>
            <a:ext cx="3246120" cy="356616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046720" y="1554480"/>
            <a:ext cx="3246120" cy="41148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229600" y="164592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321040" y="2103120"/>
            <a:ext cx="26974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Programação para Internet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Página HTML estruturada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seções, listas, links e imagens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introdução ao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Por que estrutura HTML importa?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Problema inicial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Um conteúdo pode aparecer na tela mesmo com HTML mal organizado.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Mas estrutura ruim dificulta manutenção, acessibilidade, SEO e colaboração.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objetivo é escrever código que o navegador, pessoas e ferramentas entendam.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955280" y="1463040"/>
            <a:ext cx="160020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Pouco estruturado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9552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muitos &lt;div&gt;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 hierarquia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links vagos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imagens sem alt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784080" y="1463040"/>
            <a:ext cx="160020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Bem estruturado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7840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títulos claros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seções semânticas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links descritivos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imagens acessíveis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HTML e acessibilidade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Objetivos de aprendizagem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O que o estudante deverá realizar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Identificar a estrutura mínima de um documento HTML.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Diferenciar tags, elementos, atributos e conteúdo.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Aplicar títulos, seções, listas, links, imagens e semântica.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Validar uma página simples e corrigir erros comuns.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8046720" y="164592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412480" y="160934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046720" y="228600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412480" y="224942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diferenciar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046720" y="292608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412480" y="288950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046720" y="35661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412480" y="352958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046720" y="420624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412480" y="416966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corrigir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Microsoft Learn: prática com VS Code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Ferramentas gratuitas para a aula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Ambiente de prática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Editor: Visual Studio Code ou editor online equivalente.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Navegador: Chrome, Edge, Firefox ou similar.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Validador: W3C Markup Validation Service.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Arquivos: uma pasta local com index.html e uma imagem de teste.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46720" y="160020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046720" y="16642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549640" y="156362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abrir editor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046720" y="233172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8046720" y="239572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549640" y="229514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criar index.html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046720" y="306324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046720" y="31272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549640" y="302666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abrir no navegador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046720" y="379476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8046720" y="38587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549640" y="375818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validar no W3C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VS Code: suporte a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 que é HTML?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Fundamento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HTML significa HyperText Markup Language.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É usado para marcar o significado do conteúdo de uma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navegador interpreta as marcações e exibe o conteúdo.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HTML define estrutura; aparência é tratada principalmente com CSS.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138160" y="1444752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conteúdo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9669780" y="2176272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5"/>
          <p:cNvSpPr/>
          <p:nvPr/>
        </p:nvSpPr>
        <p:spPr>
          <a:xfrm>
            <a:off x="8138160" y="2322576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marcação HTML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9669780" y="3054096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5"/>
          <p:cNvSpPr/>
          <p:nvPr/>
        </p:nvSpPr>
        <p:spPr>
          <a:xfrm>
            <a:off x="8138160" y="320040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5"/>
          <p:cNvCxnSpPr/>
          <p:nvPr/>
        </p:nvCxnSpPr>
        <p:spPr>
          <a:xfrm>
            <a:off x="9669780" y="3931920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5"/>
          <p:cNvSpPr/>
          <p:nvPr/>
        </p:nvSpPr>
        <p:spPr>
          <a:xfrm>
            <a:off x="8138160" y="4078224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página exibida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Tags, elementos e atributos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Vocabulário básico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Tag é a marca escrita entre sinais de menor e maior.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Elemento é o conjunto: tag inicial, conteúdo e tag final.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Atributo adiciona informação ao elemento.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Exemplo: href informa o destino de um link.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Anatomia de um elemento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href="https://exemplo.com"&gt;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Acessar site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tag: &lt;a&gt;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atributo: href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conteúdo: Acessar site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referência de elementos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Estrutura mínima de um documento HTML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Esqueleto da página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&lt;!DOCTYPE html&gt; informa o tipo de documento.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&lt;html&gt; envolve todo o conteúdo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&lt;head&gt; guarda metadados não visíveis diretamente.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&lt;body&gt; contém o que aparece para o usuário.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Arquivo index.html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&lt;html lang="pt-BR"&gt;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&lt;meta charset="UTF-8"&gt;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&lt;title&gt;Minha página&lt;/title&gt;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&lt;h1&gt;Olá, Web!&lt;/h1&gt;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estruturar documentos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7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Passo a passo: criar a primeira página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Demonstração prática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Crie uma pasta chamada aula-html.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Abra a pasta no editor escolhido.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Crie o arquivo index.html.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Digite a estrutura mínima e abra o arquivo no navegador.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8046720" y="160020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8046720" y="16642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549640" y="156362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criar pasta aula-html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046720" y="233172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8046720" y="239572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549640" y="229514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criar index.html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046720" y="306324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046720" y="31272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549640" y="302666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digitar HTML básico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046720" y="379476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8046720" y="38587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549640" y="375818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abrir no navegador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046720" y="452628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8046720" y="4590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549640" y="448970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alterar e atualizar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Microsoft Learn: criar projeto Web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8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Hierarquia de títulos: h1 a h6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Títulos e organização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Títulos indicam níveis de importância no documento.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&lt;h1&gt; representa o título principal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&lt;h2&gt; a &lt;h6&gt; organizam subtópicos em níveis.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Não use título apenas para aumentar o tamanho visual.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Hierarquia correta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&lt;h1&gt;Curso de Programação&lt;/h1&gt;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&lt;h2&gt;Módulo HTML&lt;/h2&gt;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&lt;h3&gt;Listas e links&lt;/h3&gt;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&lt;h2&gt;Módulo CSS&lt;/h2&gt;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&lt;h3&gt;Seletores básicos&lt;/h3&gt;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heading elements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9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9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Seções: dividir conteúdo em blocos lógicos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Organização por assunto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Seções agrupam conteúdos relacionados.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Cada seção deve ter um propósito claro.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títulos para orientar a leitura.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Páginas grandes ficam mais fáceis de navegar e manter.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8183880" y="1463040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183880" y="2084832"/>
            <a:ext cx="2971800" cy="42062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8183875" y="2651746"/>
            <a:ext cx="2971800" cy="22227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412480" y="2923749"/>
            <a:ext cx="25146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412480" y="4171278"/>
            <a:ext cx="25146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&lt;article&gt;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8183880" y="5165015"/>
            <a:ext cx="2971800" cy="475500"/>
          </a:xfrm>
          <a:prstGeom prst="roundRect">
            <a:avLst>
              <a:gd fmla="val 16667" name="adj"/>
            </a:avLst>
          </a:prstGeom>
          <a:solidFill>
            <a:srgbClr val="FFEDD5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&lt;footer&gt;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W3C WAI: estrutura de conteúdo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10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Parágrafos e conteúdo textual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Texto na página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&lt;p&gt; para blocos de texto corrido.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Evite usar quebras de linha para simular parágrafos.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Separe ideias diferentes em parágrafos diferentes.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Texto bem dividido melhora leitura e manutenção.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7955280" y="1463040"/>
            <a:ext cx="160020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Frágil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79552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texto solto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&lt;br&gt; em excesso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difícil de editar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9784080" y="1463040"/>
            <a:ext cx="160020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Adequado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97840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&lt;p&gt; para parágrafos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ideias separadas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estrutura legível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elementos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1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Listas não ordenadas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Agrupar itens sem sequência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&lt;ul&gt; quando a ordem dos itens não muda o sentido.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Cada item da lista deve ficar em &lt;li&gt;.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Exemplo: recursos, tecnologias, requisitos ou tópicos.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Listas tornam o conteúdo mais escaneável.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 não ordenada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&lt;h2&gt;Tecnologias usadas&lt;/h2&gt;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&lt;li&gt;HTML&lt;/li&gt;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&lt;li&gt;CSS&lt;/li&gt;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&lt;li&gt;JavaScript&lt;/li&gt;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elemento ul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2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Listas ordenadas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Passos e sequência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&lt;ol&gt; quando a ordem for importante.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Cada etapa também fica em &lt;li&gt;.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Exemplo: tutorial, receita, procedimento ou algoritmo.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 numeração é gerada pelo navegador.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 ordenada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&lt;h2&gt;Passos da prática&lt;/h2&gt;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&lt;ol&gt;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&lt;li&gt;Criar index.html&lt;/li&gt;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&lt;li&gt;Adicionar títulos&lt;/li&gt;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&lt;li&gt;Validar o código&lt;/li&gt;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&lt;/ol&gt;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elemento ol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13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Listas aninhadas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Subitens e categorias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Uma lista pode conter outra lista dentro de um item.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aninhamento para categorias e subcategorias.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Evite muitos níveis para não prejudicar a leitura.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Indentação ajuda a visualizar a relação entre itens.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 com subitens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&lt;li&gt;Frontend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&lt;ul&gt;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&lt;li&gt;HTML&lt;/li&gt;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&lt;li&gt;CSS&lt;/li&gt;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&lt;/ul&gt;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W3C WAI: listas na estrutura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4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Links: conectando documentos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Elemento &lt;a&gt;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Link é criado com o elemento &lt;a&gt;.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atributo href define o destino do link.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texto do link deve indicar a ação ou conteúdo.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Evite textos genéricos como “clique aqui”.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 descritivo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href="sobre.html"&gt;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Ver página sobre o projeto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href="https://developer.mozilla.org/"&gt;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Consultar MDN Web Docs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elemento 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5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URLs absolutas e caminhos relativos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Endereços em links e imagens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URL absoluta aponta para um endereço completo na Web.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Caminho relativo aponta para arquivo dentro do projeto.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relativo para páginas e imagens do próprio site.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Organização de pastas evita links quebrados.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7955280" y="1463040"/>
            <a:ext cx="160020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Absoluto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79552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https://site.com/sobre.html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útil para sites externos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9784080" y="1463040"/>
            <a:ext cx="160020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Relativo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97840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sobre.html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imagens/foto.jpg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útil no projeto local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URLs e links em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16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Imagens no HTML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Elemento &lt;img&gt;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&lt;img&gt; para inserir imagem informativa na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atributo src indica o arquivo da imagem.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atributo alt descreve o conteúdo ou função da imagem.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&lt;img&gt; não usa tag de fechamento.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Imagem com texto alternativo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src="imagens/laboratorio.jpg"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alt="Estudantes usando computadores em laboratório"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elemento img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17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17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Texto alternativo: quando e como usar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Acessibilidade de imagens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Alt deve transmitir a informação relevante da imagem.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Imagem decorativa pode ter alt vazio: alt="".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Não escreva “imagem de” quando isso não acrescenta sentido.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contexto da página orienta a descrição.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8"/>
          <p:cNvSpPr/>
          <p:nvPr/>
        </p:nvSpPr>
        <p:spPr>
          <a:xfrm>
            <a:off x="8138160" y="1444752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imagem informa algo?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18"/>
          <p:cNvCxnSpPr/>
          <p:nvPr/>
        </p:nvCxnSpPr>
        <p:spPr>
          <a:xfrm>
            <a:off x="9669780" y="2176272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8" name="Google Shape;308;p18"/>
          <p:cNvSpPr/>
          <p:nvPr/>
        </p:nvSpPr>
        <p:spPr>
          <a:xfrm>
            <a:off x="8138160" y="2322576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sim: descreva a informação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18"/>
          <p:cNvCxnSpPr/>
          <p:nvPr/>
        </p:nvCxnSpPr>
        <p:spPr>
          <a:xfrm>
            <a:off x="9669780" y="3054096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18"/>
          <p:cNvSpPr/>
          <p:nvPr/>
        </p:nvSpPr>
        <p:spPr>
          <a:xfrm>
            <a:off x="8138160" y="320040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não: alt vazio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18"/>
          <p:cNvCxnSpPr/>
          <p:nvPr/>
        </p:nvCxnSpPr>
        <p:spPr>
          <a:xfrm>
            <a:off x="9669780" y="3931920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18"/>
          <p:cNvSpPr/>
          <p:nvPr/>
        </p:nvSpPr>
        <p:spPr>
          <a:xfrm>
            <a:off x="8138160" y="4078224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teste: sem imagem ainda faz sentido?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W3C WAI: árvore de decisão para alt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18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18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semântico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Significado dos elementos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Semântica é o significado de uma marcação.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Elementos semânticos descrevem o papel do conteúdo.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&lt;nav&gt; indica navegação; &lt;main&gt; indica conteúdo principal.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Isso ajuda acessibilidade, manutenção e interpretação automática.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8138160" y="1554480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9921240" y="1554480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8138160" y="2267712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FFEDD5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9921240" y="2267712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8138160" y="2980944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&lt;article&gt;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9921240" y="2980944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FFEDD5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&lt;aside&gt;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8138160" y="3694176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&lt;footer&gt;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9921240" y="3694176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&lt;div&gt;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9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semântica em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19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9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Elementos semânticos principais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Mapa de uma página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&lt;header&gt;: cabeçalho de página ou seção.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&lt;nav&gt;: bloco de links de navegação.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&lt;main&gt;: conteúdo principal único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&lt;footer&gt;: rodapé com informações complementares.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8183880" y="1463040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8183880" y="2084832"/>
            <a:ext cx="2971800" cy="42062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8183880" y="2651760"/>
            <a:ext cx="2971800" cy="164592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8412480" y="3035808"/>
            <a:ext cx="25146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8412480" y="3566160"/>
            <a:ext cx="25146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&lt;article&gt;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8183880" y="4526280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FFEDD5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&lt;footer&gt;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0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estruturar documentos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20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20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&lt;section&gt;, &lt;article&gt;, &lt;aside&gt; e &lt;div&gt;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Escolha do elemento correto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&lt;section&gt; agrupa um tema dentro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&lt;article&gt; representa conteúdo independente ou reutilizável.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&lt;aside&gt; contém informação complementar.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&lt;div&gt; é genérico e deve ser usado quando não houver semântica melhor.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7955280" y="1463040"/>
            <a:ext cx="160020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Genérico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79552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&lt;div&gt;Conteúdo&lt;/div&gt;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não revela intenção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9784080" y="1463040"/>
            <a:ext cx="160020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Semântico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97840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&lt;article&gt;Notícia&lt;/article&gt;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papel mais claro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1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referência de elementos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21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Árvore do documento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Como o navegador organiza o HTML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Elementos HTML formam uma estrutura em árvore.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Elemento pai contém elementos filhos.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Essa relação influencia CSS, JavaScript e acessibilidade.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Fechar tags corretamente mantém a árvore previsível.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8961120" y="1463040"/>
            <a:ext cx="1371600" cy="4572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8961120" y="2148840"/>
            <a:ext cx="1371600" cy="457200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8138160" y="2880360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&lt;head&gt;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9875520" y="2880360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138160" y="3611880"/>
            <a:ext cx="128016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&lt;title&gt;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9875520" y="3611880"/>
            <a:ext cx="128016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9464040" y="4343400"/>
            <a:ext cx="118872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0744200" y="4343400"/>
            <a:ext cx="86868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&lt;img&gt;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22"/>
          <p:cNvCxnSpPr/>
          <p:nvPr/>
        </p:nvCxnSpPr>
        <p:spPr>
          <a:xfrm>
            <a:off x="9646920" y="1920240"/>
            <a:ext cx="0" cy="22860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8" name="Google Shape;388;p22"/>
          <p:cNvCxnSpPr/>
          <p:nvPr/>
        </p:nvCxnSpPr>
        <p:spPr>
          <a:xfrm flipH="1">
            <a:off x="8778240" y="2606040"/>
            <a:ext cx="868680" cy="27432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9" name="Google Shape;389;p22"/>
          <p:cNvCxnSpPr/>
          <p:nvPr/>
        </p:nvCxnSpPr>
        <p:spPr>
          <a:xfrm>
            <a:off x="9646920" y="2606040"/>
            <a:ext cx="868680" cy="27432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0" name="Google Shape;390;p22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estruturar documentos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22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Indentação e legibilidade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Código fácil de ler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Indentação mostra visualmente a hierarquia dos elementos.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um padrão consistente de espaços.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Tags de abertura e fechamento devem ser fáceis de localizar.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Código legível reduz erros em equipe.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7955280" y="1463040"/>
            <a:ext cx="160020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Difícil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79552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&lt;main&gt;&lt;section&gt;&lt;h2&gt;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Texto&lt;/h2&gt;&lt;/section&gt;&lt;/main&gt;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9784080" y="1463040"/>
            <a:ext cx="160020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Legível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97840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 &lt;section&gt;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   &lt;h2&gt;Texto&lt;/h2&gt;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 &lt;/section&gt;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&lt;/main&gt;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3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VS Code: formatação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23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Comentários em HTML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Documentar sem aparecer na página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Comentários explicam decisões no código.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Eles não aparecem no conteúdo renderizado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comentários para marcar blocos ou orientar manutenção.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Evite comentários óbvios ou desatualizados.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Comentário HTML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Seção de apresentação do projeto --&gt;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&lt;section&gt;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&lt;h2&gt;Sobre o projeto&lt;/h2&gt;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&lt;p&gt;Descrição resumida.&lt;/p&gt;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&lt;/section&gt;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4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elementos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24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5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Exemplo resolvido: página de portfólio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Planejamento da estrutura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Cenário: criar uma página pessoal simples para disciplina.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Conteúdo: apresentação, projetos, competências e contato.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Estrutura: header, nav, main, section, article e footer.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Objetivo: aplicar HTML semântico em um caso realista.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8138160" y="1444752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planejar conteúdo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25"/>
          <p:cNvCxnSpPr/>
          <p:nvPr/>
        </p:nvCxnSpPr>
        <p:spPr>
          <a:xfrm>
            <a:off x="9669780" y="2172614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25"/>
          <p:cNvSpPr/>
          <p:nvPr/>
        </p:nvSpPr>
        <p:spPr>
          <a:xfrm>
            <a:off x="8138160" y="2318918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definir seções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25"/>
          <p:cNvCxnSpPr/>
          <p:nvPr/>
        </p:nvCxnSpPr>
        <p:spPr>
          <a:xfrm>
            <a:off x="9669780" y="3046781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25"/>
          <p:cNvSpPr/>
          <p:nvPr/>
        </p:nvSpPr>
        <p:spPr>
          <a:xfrm>
            <a:off x="8138160" y="3193085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criar HTML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25"/>
          <p:cNvCxnSpPr/>
          <p:nvPr/>
        </p:nvCxnSpPr>
        <p:spPr>
          <a:xfrm>
            <a:off x="9669780" y="3920947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25"/>
          <p:cNvSpPr/>
          <p:nvPr/>
        </p:nvSpPr>
        <p:spPr>
          <a:xfrm>
            <a:off x="8138160" y="4067251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25"/>
          <p:cNvCxnSpPr/>
          <p:nvPr/>
        </p:nvCxnSpPr>
        <p:spPr>
          <a:xfrm>
            <a:off x="9669780" y="4795114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0" name="Google Shape;440;p25"/>
          <p:cNvSpPr/>
          <p:nvPr/>
        </p:nvSpPr>
        <p:spPr>
          <a:xfrm>
            <a:off x="8138160" y="4941418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inspecionar no navegador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5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Microsoft Learn: prática de página Web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25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Passo 1: cabeçalho e navegação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Header e nav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cabeçalho identifica a página ou projeto.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 navegação reúne links para partes importantes.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Links internos podem apontar para ids da própria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nomes claros para cada destino.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6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Cabeçalho com navegação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&lt;header&gt;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&lt;h1&gt;Portfólio de Ana&lt;/h1&gt;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&lt;nav&gt;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&lt;a href="#sobre"&gt;Sobre&lt;/a&gt;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&lt;a href="#projetos"&gt;Projetos&lt;/a&gt;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&lt;a href="#contato"&gt;Contato&lt;/a&gt;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&lt;/nav&gt;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&lt;/header&gt;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6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elemento 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26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Passo 2: conteúdo principal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7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Main e section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&lt;main&gt; delimita o conteúdo principal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Cada &lt;section&gt; organiza um assunto do portfólio.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Cada seção deve ter título próprio.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 ordem das seções deve seguir a leitura esperada.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7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 com seções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&lt;main&gt;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&lt;section id="sobre"&gt;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&lt;h2&gt;Sobre mim&lt;/h2&gt;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&lt;p&gt;Estudante de Computação...&lt;/p&gt;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&lt;/section&gt;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&lt;section id="projetos"&gt;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&lt;h2&gt;Projetos&lt;/h2&gt;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&lt;/section&gt;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&lt;/main&gt;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7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estruturar documentos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27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27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8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Passo 3: projetos com articles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Conteúdo independente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Cada projeto pode ser representado por &lt;article&gt;.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article possui título, descrição e lista de tecnologias.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 lista facilita leitura rápida das competências usadas.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Esse bloco poderia ser reutilizado em outra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Projeto como article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&lt;article&gt;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&lt;h3&gt;Sistema de biblioteca&lt;/h3&gt;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&lt;p&gt;Protótipo para cadastro de livros.&lt;/p&gt;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&lt;ul&gt;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&lt;li&gt;HTML semântico&lt;/li&gt;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&lt;li&gt;Formulários&lt;/li&gt;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&lt;/ul&gt;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&lt;/article&gt;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referência de elementos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28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28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9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Passo 4: imagens com contexto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9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Imagem + descrição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9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imagem quando ela acrescentar informação ao conteúdo.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Mantenha arquivo em pasta organizada, como imagens/.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Escreva alt coerente com o contexto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Evite nomes de arquivo genéricos e confusos.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9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Imagem no projeto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9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&lt;figure&gt;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&lt;img src="imagens/projeto-biblioteca.png"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alt="Tela inicial do protótipo de biblioteca"&gt;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&lt;figcaption&gt;Protótipo da interface.&lt;/figcaption&gt;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&lt;/figure&gt;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9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W3C WAI: alt em imagens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9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29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29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0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Passo 5: rodapé e contato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0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Footer e links externos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0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rodapé pode reunir autoria, ano e contato.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Links externos devem ter texto informativo.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E-mail pode usar mailto:, quando adequado.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Evite expor dados pessoais sensíveis em exemplos públicos.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0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0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Rodapé simples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0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&lt;footer id="contato"&gt;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&lt;p&gt;Contato acadêmico:&lt;/p&gt;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&lt;a href="mailto:ana@email.com"&gt;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Enviar e-mail para Ana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&lt;/a&gt;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&lt;/footer&gt;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0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elemento 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30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30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1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Validação de HTML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Encontrar erros de marcação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Validador verifica problemas de sintaxe e estrutura.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Ele ajuda a encontrar tags não fechadas e atributos inválidos.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Validação não garante boa experiência visual sozinha.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É uma etapa de qualidade do código.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1"/>
          <p:cNvSpPr/>
          <p:nvPr/>
        </p:nvSpPr>
        <p:spPr>
          <a:xfrm>
            <a:off x="8138160" y="1444752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arquivo HTML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31"/>
          <p:cNvCxnSpPr/>
          <p:nvPr/>
        </p:nvCxnSpPr>
        <p:spPr>
          <a:xfrm>
            <a:off x="9669780" y="2172614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5" name="Google Shape;525;p31"/>
          <p:cNvSpPr/>
          <p:nvPr/>
        </p:nvSpPr>
        <p:spPr>
          <a:xfrm>
            <a:off x="8138160" y="2318918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validador W3C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31"/>
          <p:cNvCxnSpPr/>
          <p:nvPr/>
        </p:nvCxnSpPr>
        <p:spPr>
          <a:xfrm>
            <a:off x="9669780" y="3046781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7" name="Google Shape;527;p31"/>
          <p:cNvSpPr/>
          <p:nvPr/>
        </p:nvSpPr>
        <p:spPr>
          <a:xfrm>
            <a:off x="8138160" y="3193085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mensagens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" name="Google Shape;528;p31"/>
          <p:cNvCxnSpPr/>
          <p:nvPr/>
        </p:nvCxnSpPr>
        <p:spPr>
          <a:xfrm>
            <a:off x="9669780" y="3920947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9" name="Google Shape;529;p31"/>
          <p:cNvSpPr/>
          <p:nvPr/>
        </p:nvSpPr>
        <p:spPr>
          <a:xfrm>
            <a:off x="8138160" y="4067251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correção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31"/>
          <p:cNvCxnSpPr/>
          <p:nvPr/>
        </p:nvCxnSpPr>
        <p:spPr>
          <a:xfrm>
            <a:off x="9669780" y="4795114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1" name="Google Shape;531;p31"/>
          <p:cNvSpPr/>
          <p:nvPr/>
        </p:nvSpPr>
        <p:spPr>
          <a:xfrm>
            <a:off x="8138160" y="4941418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novo teste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1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W3C Markup Validation Service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1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4" name="Google Shape;534;p31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2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Passo a passo: usar o validador W3C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2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Demonstração prática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2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Acesse o serviço de validação.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Escolha validar por upload ou por texto direto.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Cole o HTML ou envie o arquivo index.html.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Leia mensagens, corrija o código e teste novamente.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2"/>
          <p:cNvSpPr/>
          <p:nvPr/>
        </p:nvSpPr>
        <p:spPr>
          <a:xfrm>
            <a:off x="8046720" y="160020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2"/>
          <p:cNvSpPr/>
          <p:nvPr/>
        </p:nvSpPr>
        <p:spPr>
          <a:xfrm>
            <a:off x="8046720" y="16642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2"/>
          <p:cNvSpPr/>
          <p:nvPr/>
        </p:nvSpPr>
        <p:spPr>
          <a:xfrm>
            <a:off x="8549640" y="156362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abrir validator.w3.org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2"/>
          <p:cNvSpPr/>
          <p:nvPr/>
        </p:nvSpPr>
        <p:spPr>
          <a:xfrm>
            <a:off x="8046720" y="233172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2"/>
          <p:cNvSpPr/>
          <p:nvPr/>
        </p:nvSpPr>
        <p:spPr>
          <a:xfrm>
            <a:off x="8046720" y="239572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2"/>
          <p:cNvSpPr/>
          <p:nvPr/>
        </p:nvSpPr>
        <p:spPr>
          <a:xfrm>
            <a:off x="8549640" y="229514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selecionar opção de entrada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2"/>
          <p:cNvSpPr/>
          <p:nvPr/>
        </p:nvSpPr>
        <p:spPr>
          <a:xfrm>
            <a:off x="8046720" y="306324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2"/>
          <p:cNvSpPr/>
          <p:nvPr/>
        </p:nvSpPr>
        <p:spPr>
          <a:xfrm>
            <a:off x="8046720" y="31272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2"/>
          <p:cNvSpPr/>
          <p:nvPr/>
        </p:nvSpPr>
        <p:spPr>
          <a:xfrm>
            <a:off x="8549640" y="302666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colar ou enviar HTML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2"/>
          <p:cNvSpPr/>
          <p:nvPr/>
        </p:nvSpPr>
        <p:spPr>
          <a:xfrm>
            <a:off x="8046720" y="379476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2"/>
          <p:cNvSpPr/>
          <p:nvPr/>
        </p:nvSpPr>
        <p:spPr>
          <a:xfrm>
            <a:off x="8046720" y="38587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2"/>
          <p:cNvSpPr/>
          <p:nvPr/>
        </p:nvSpPr>
        <p:spPr>
          <a:xfrm>
            <a:off x="8549640" y="375818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clicar em Check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2"/>
          <p:cNvSpPr/>
          <p:nvPr/>
        </p:nvSpPr>
        <p:spPr>
          <a:xfrm>
            <a:off x="8046720" y="452628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8046720" y="4590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2"/>
          <p:cNvSpPr/>
          <p:nvPr/>
        </p:nvSpPr>
        <p:spPr>
          <a:xfrm>
            <a:off x="8549640" y="448970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corrigir e repetir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2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W3C Validator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2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1" name="Google Shape;561;p32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3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Inspecionar HTML no navegador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3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DevTools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3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DevTools mostra a estrutura interpretada pelo navegador.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 aba Elements exibe a árvore do documento.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Mudanças temporárias ajudam a investigar problemas.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arquivo original só muda quando editado no editor.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3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3"/>
          <p:cNvSpPr/>
          <p:nvPr/>
        </p:nvSpPr>
        <p:spPr>
          <a:xfrm>
            <a:off x="8046720" y="1554480"/>
            <a:ext cx="3246120" cy="356616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3"/>
          <p:cNvSpPr/>
          <p:nvPr/>
        </p:nvSpPr>
        <p:spPr>
          <a:xfrm>
            <a:off x="8046720" y="1554480"/>
            <a:ext cx="3246120" cy="41148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3"/>
          <p:cNvSpPr/>
          <p:nvPr/>
        </p:nvSpPr>
        <p:spPr>
          <a:xfrm>
            <a:off x="8229600" y="164592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3"/>
          <p:cNvSpPr/>
          <p:nvPr/>
        </p:nvSpPr>
        <p:spPr>
          <a:xfrm>
            <a:off x="8321040" y="2103120"/>
            <a:ext cx="26974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Elements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 &lt;body&gt;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   &lt;main&gt;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     &lt;section&gt;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3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Microsoft Learn: ferramentas do navegador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3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p33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4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Erros comuns em HTML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4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Diagnóstico rápido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Esquecer fechamento de tags que exigem fechamento.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Usar títulos fora de hierarquia lógica.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Criar links com href incorreto ou texto genérico.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Inserir imagens sem alt ou com caminho errado.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4"/>
          <p:cNvSpPr/>
          <p:nvPr/>
        </p:nvSpPr>
        <p:spPr>
          <a:xfrm>
            <a:off x="8046720" y="164592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8412480" y="160934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fechamento de tags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4"/>
          <p:cNvSpPr/>
          <p:nvPr/>
        </p:nvSpPr>
        <p:spPr>
          <a:xfrm>
            <a:off x="8046720" y="228600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4"/>
          <p:cNvSpPr/>
          <p:nvPr/>
        </p:nvSpPr>
        <p:spPr>
          <a:xfrm>
            <a:off x="8412480" y="224942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hierarquia de títulos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4"/>
          <p:cNvSpPr/>
          <p:nvPr/>
        </p:nvSpPr>
        <p:spPr>
          <a:xfrm>
            <a:off x="8046720" y="292608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4"/>
          <p:cNvSpPr/>
          <p:nvPr/>
        </p:nvSpPr>
        <p:spPr>
          <a:xfrm>
            <a:off x="8412480" y="288950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href correto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4"/>
          <p:cNvSpPr/>
          <p:nvPr/>
        </p:nvSpPr>
        <p:spPr>
          <a:xfrm>
            <a:off x="8046720" y="35661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4"/>
          <p:cNvSpPr/>
          <p:nvPr/>
        </p:nvSpPr>
        <p:spPr>
          <a:xfrm>
            <a:off x="8412480" y="352958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src correto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4"/>
          <p:cNvSpPr/>
          <p:nvPr/>
        </p:nvSpPr>
        <p:spPr>
          <a:xfrm>
            <a:off x="8046720" y="420624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8412480" y="416966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alt adequado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4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acessibilidade com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34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5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Boas práticas para documentos HTML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5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Qualidade e manutenção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5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Comece pela estrutura antes da aparência.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o elemento mais específico para o significado desejado.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Mantenha títulos, listas e links coerentes.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Valide e teste com navegador após alterações importantes.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5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5"/>
          <p:cNvSpPr/>
          <p:nvPr/>
        </p:nvSpPr>
        <p:spPr>
          <a:xfrm>
            <a:off x="8138160" y="1444752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planejar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35"/>
          <p:cNvCxnSpPr/>
          <p:nvPr/>
        </p:nvCxnSpPr>
        <p:spPr>
          <a:xfrm>
            <a:off x="9669780" y="2172614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1" name="Google Shape;611;p35"/>
          <p:cNvSpPr/>
          <p:nvPr/>
        </p:nvSpPr>
        <p:spPr>
          <a:xfrm>
            <a:off x="8138160" y="2318918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escrever semântico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35"/>
          <p:cNvCxnSpPr/>
          <p:nvPr/>
        </p:nvCxnSpPr>
        <p:spPr>
          <a:xfrm>
            <a:off x="9669780" y="3046781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3" name="Google Shape;613;p35"/>
          <p:cNvSpPr/>
          <p:nvPr/>
        </p:nvSpPr>
        <p:spPr>
          <a:xfrm>
            <a:off x="8138160" y="3193085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organizar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p35"/>
          <p:cNvCxnSpPr/>
          <p:nvPr/>
        </p:nvCxnSpPr>
        <p:spPr>
          <a:xfrm>
            <a:off x="9669780" y="3920947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5" name="Google Shape;615;p35"/>
          <p:cNvSpPr/>
          <p:nvPr/>
        </p:nvSpPr>
        <p:spPr>
          <a:xfrm>
            <a:off x="8138160" y="4067251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35"/>
          <p:cNvCxnSpPr/>
          <p:nvPr/>
        </p:nvCxnSpPr>
        <p:spPr>
          <a:xfrm>
            <a:off x="9669780" y="4795114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7" name="Google Shape;617;p35"/>
          <p:cNvSpPr/>
          <p:nvPr/>
        </p:nvSpPr>
        <p:spPr>
          <a:xfrm>
            <a:off x="8138160" y="4941418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revisar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5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referência de elementos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35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6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Laboratório guiado: página acadêmica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Construção passo a passo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6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Tema sugerido: página de apresentação de um projeto acadêmico.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Inclua resumo, objetivos, tecnologias, equipe e contato.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pelo menos um link interno e um link externo.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Inclua uma imagem com alt adequado.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6"/>
          <p:cNvSpPr/>
          <p:nvPr/>
        </p:nvSpPr>
        <p:spPr>
          <a:xfrm>
            <a:off x="8046720" y="160020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6"/>
          <p:cNvSpPr/>
          <p:nvPr/>
        </p:nvSpPr>
        <p:spPr>
          <a:xfrm>
            <a:off x="8046720" y="16642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6"/>
          <p:cNvSpPr/>
          <p:nvPr/>
        </p:nvSpPr>
        <p:spPr>
          <a:xfrm>
            <a:off x="8549640" y="156362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definir tema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8046720" y="233172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6"/>
          <p:cNvSpPr/>
          <p:nvPr/>
        </p:nvSpPr>
        <p:spPr>
          <a:xfrm>
            <a:off x="8046720" y="239572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6"/>
          <p:cNvSpPr/>
          <p:nvPr/>
        </p:nvSpPr>
        <p:spPr>
          <a:xfrm>
            <a:off x="8549640" y="229514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criar estrutura mínima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8046720" y="306324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6"/>
          <p:cNvSpPr/>
          <p:nvPr/>
        </p:nvSpPr>
        <p:spPr>
          <a:xfrm>
            <a:off x="8046720" y="31272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8549640" y="302666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adicionar seções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8046720" y="379476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6"/>
          <p:cNvSpPr/>
          <p:nvPr/>
        </p:nvSpPr>
        <p:spPr>
          <a:xfrm>
            <a:off x="8046720" y="38587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6"/>
          <p:cNvSpPr/>
          <p:nvPr/>
        </p:nvSpPr>
        <p:spPr>
          <a:xfrm>
            <a:off x="8549640" y="375818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inserir lista e links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6"/>
          <p:cNvSpPr/>
          <p:nvPr/>
        </p:nvSpPr>
        <p:spPr>
          <a:xfrm>
            <a:off x="8046720" y="4526280"/>
            <a:ext cx="384048" cy="384048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6"/>
          <p:cNvSpPr/>
          <p:nvPr/>
        </p:nvSpPr>
        <p:spPr>
          <a:xfrm>
            <a:off x="8046720" y="4590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6"/>
          <p:cNvSpPr/>
          <p:nvPr/>
        </p:nvSpPr>
        <p:spPr>
          <a:xfrm>
            <a:off x="8549640" y="448970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6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VS Code: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6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Google Shape;647;p36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7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Checklist da página criada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Autoavaliação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7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Existe exatamente um título principal h1?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As seções têm h2 ou h3 coerentes?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Listas usam ul ou ol conforme a necessidade?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Links e imagens possuem atributos corretos?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7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7"/>
          <p:cNvSpPr/>
          <p:nvPr/>
        </p:nvSpPr>
        <p:spPr>
          <a:xfrm>
            <a:off x="8046720" y="164592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7"/>
          <p:cNvSpPr/>
          <p:nvPr/>
        </p:nvSpPr>
        <p:spPr>
          <a:xfrm>
            <a:off x="8412480" y="160934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h1 principal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7"/>
          <p:cNvSpPr/>
          <p:nvPr/>
        </p:nvSpPr>
        <p:spPr>
          <a:xfrm>
            <a:off x="8046720" y="228600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7"/>
          <p:cNvSpPr/>
          <p:nvPr/>
        </p:nvSpPr>
        <p:spPr>
          <a:xfrm>
            <a:off x="8412480" y="224942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seções tituladas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8046720" y="292608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8412480" y="288950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listas corretas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8046720" y="35661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8412480" y="352958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links descritivos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7"/>
          <p:cNvSpPr/>
          <p:nvPr/>
        </p:nvSpPr>
        <p:spPr>
          <a:xfrm>
            <a:off x="8046720" y="420624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7"/>
          <p:cNvSpPr/>
          <p:nvPr/>
        </p:nvSpPr>
        <p:spPr>
          <a:xfrm>
            <a:off x="8412480" y="416966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imagens com alt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7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W3C Validator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7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37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9" name="Google Shape;669;p37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8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e acessibilidade básica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Inclusão desde a estrutura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HTML semântico facilita navegação por tecnologias assistivas.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Títulos permitem saltar entre partes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Links claros ajudam usuários que navegam por lista de links.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Alt adequado permite compreender imagens informativas.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8"/>
          <p:cNvSpPr/>
          <p:nvPr/>
        </p:nvSpPr>
        <p:spPr>
          <a:xfrm>
            <a:off x="8138160" y="1444752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estrutura clara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0" name="Google Shape;680;p38"/>
          <p:cNvCxnSpPr/>
          <p:nvPr/>
        </p:nvCxnSpPr>
        <p:spPr>
          <a:xfrm>
            <a:off x="9669780" y="2176272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1" name="Google Shape;681;p38"/>
          <p:cNvSpPr/>
          <p:nvPr/>
        </p:nvSpPr>
        <p:spPr>
          <a:xfrm>
            <a:off x="8138160" y="2322576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tecnologia assistiva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2" name="Google Shape;682;p38"/>
          <p:cNvCxnSpPr/>
          <p:nvPr/>
        </p:nvCxnSpPr>
        <p:spPr>
          <a:xfrm>
            <a:off x="9669780" y="3054096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3" name="Google Shape;683;p38"/>
          <p:cNvSpPr/>
          <p:nvPr/>
        </p:nvSpPr>
        <p:spPr>
          <a:xfrm>
            <a:off x="8138160" y="320040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navegação melhor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38"/>
          <p:cNvCxnSpPr/>
          <p:nvPr/>
        </p:nvCxnSpPr>
        <p:spPr>
          <a:xfrm>
            <a:off x="9669780" y="3931920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5" name="Google Shape;685;p38"/>
          <p:cNvSpPr/>
          <p:nvPr/>
        </p:nvSpPr>
        <p:spPr>
          <a:xfrm>
            <a:off x="8138160" y="4078224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conteúdo acessível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8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HTML acessível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8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38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p38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9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HTML, SEO e leitura por máquinas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9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Interpretação automática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9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Motores de busca analisam estrutura e significado da página.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Títulos e semântica ajudam a indicar assuntos principais.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Links descritivos melhoram contexto.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SEO não deve sacrificar clareza ou acessibilidade.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9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9"/>
          <p:cNvSpPr/>
          <p:nvPr/>
        </p:nvSpPr>
        <p:spPr>
          <a:xfrm>
            <a:off x="8138160" y="1444752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semântico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p39"/>
          <p:cNvCxnSpPr/>
          <p:nvPr/>
        </p:nvCxnSpPr>
        <p:spPr>
          <a:xfrm>
            <a:off x="9669780" y="2176272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0" name="Google Shape;700;p39"/>
          <p:cNvSpPr/>
          <p:nvPr/>
        </p:nvSpPr>
        <p:spPr>
          <a:xfrm>
            <a:off x="8138160" y="2322576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robôs e ferramentas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39"/>
          <p:cNvCxnSpPr/>
          <p:nvPr/>
        </p:nvCxnSpPr>
        <p:spPr>
          <a:xfrm>
            <a:off x="9669780" y="3054096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2" name="Google Shape;702;p39"/>
          <p:cNvSpPr/>
          <p:nvPr/>
        </p:nvSpPr>
        <p:spPr>
          <a:xfrm>
            <a:off x="8138160" y="320040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compreensão do conteúdo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3" name="Google Shape;703;p39"/>
          <p:cNvCxnSpPr/>
          <p:nvPr/>
        </p:nvCxnSpPr>
        <p:spPr>
          <a:xfrm>
            <a:off x="9669780" y="3931920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4" name="Google Shape;704;p39"/>
          <p:cNvSpPr/>
          <p:nvPr/>
        </p:nvSpPr>
        <p:spPr>
          <a:xfrm>
            <a:off x="8138160" y="4078224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melhor organização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9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semântica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9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39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7" name="Google Shape;707;p39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0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Quando usar div?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0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Elemento genérico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0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&lt;div&gt; não carrega significado específico.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para agrupamento quando não houver elemento semântico adequado.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Não substitua header, nav, main, section ou article sem motivo.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Div é comum para suporte de layout com CSS.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0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0"/>
          <p:cNvSpPr/>
          <p:nvPr/>
        </p:nvSpPr>
        <p:spPr>
          <a:xfrm>
            <a:off x="7955280" y="1463040"/>
            <a:ext cx="160020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Uso excessivo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0"/>
          <p:cNvSpPr/>
          <p:nvPr/>
        </p:nvSpPr>
        <p:spPr>
          <a:xfrm>
            <a:off x="79552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&lt;div id="menu"&gt;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&lt;div id="conteudo"&gt;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0"/>
          <p:cNvSpPr/>
          <p:nvPr/>
        </p:nvSpPr>
        <p:spPr>
          <a:xfrm>
            <a:off x="9784080" y="1463040"/>
            <a:ext cx="160020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Uso melhor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0"/>
          <p:cNvSpPr/>
          <p:nvPr/>
        </p:nvSpPr>
        <p:spPr>
          <a:xfrm>
            <a:off x="97840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0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referência de elementos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0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40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3" name="Google Shape;723;p40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1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Miniestudo de caso: página mal estruturada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1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Análise crítica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1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Cenário: uma página tem título visual, mas nenhum h1.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Menus são textos soltos sem nav nem links corretos.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Projetos aparecem em blocos genéricos sem article.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Imagens informativas estão sem alt.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1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1"/>
          <p:cNvSpPr/>
          <p:nvPr/>
        </p:nvSpPr>
        <p:spPr>
          <a:xfrm>
            <a:off x="7955280" y="1463040"/>
            <a:ext cx="160020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1"/>
          <p:cNvSpPr/>
          <p:nvPr/>
        </p:nvSpPr>
        <p:spPr>
          <a:xfrm>
            <a:off x="79552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 h1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 nav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 alt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div em excesso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1"/>
          <p:cNvSpPr/>
          <p:nvPr/>
        </p:nvSpPr>
        <p:spPr>
          <a:xfrm>
            <a:off x="9784080" y="1463040"/>
            <a:ext cx="160020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Correções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1"/>
          <p:cNvSpPr/>
          <p:nvPr/>
        </p:nvSpPr>
        <p:spPr>
          <a:xfrm>
            <a:off x="9784080" y="1920240"/>
            <a:ext cx="1600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h1 lógico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 com links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alt informativo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section/article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1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HTML acessível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1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41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41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2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Atividade prática avaliativa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2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Exercício de fixação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2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Crie uma página HTML sobre um projeto acadêmico fictício.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Obrigatório: h1, pelo menos 3 seções, uma lista, dois links e uma imagem com alt.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 elementos semânticos: header, nav, main, section/article e footer.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Valide o HTML e registre dois erros corrigidos ou confirme ausência de erros.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2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42"/>
          <p:cNvSpPr/>
          <p:nvPr/>
        </p:nvSpPr>
        <p:spPr>
          <a:xfrm>
            <a:off x="8046720" y="164592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2"/>
          <p:cNvSpPr/>
          <p:nvPr/>
        </p:nvSpPr>
        <p:spPr>
          <a:xfrm>
            <a:off x="8412480" y="160934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h1 e seções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2"/>
          <p:cNvSpPr/>
          <p:nvPr/>
        </p:nvSpPr>
        <p:spPr>
          <a:xfrm>
            <a:off x="8046720" y="228600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2"/>
          <p:cNvSpPr/>
          <p:nvPr/>
        </p:nvSpPr>
        <p:spPr>
          <a:xfrm>
            <a:off x="8412480" y="224942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lista correta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2"/>
          <p:cNvSpPr/>
          <p:nvPr/>
        </p:nvSpPr>
        <p:spPr>
          <a:xfrm>
            <a:off x="8046720" y="292608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2"/>
          <p:cNvSpPr/>
          <p:nvPr/>
        </p:nvSpPr>
        <p:spPr>
          <a:xfrm>
            <a:off x="8412480" y="288950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links claros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2"/>
          <p:cNvSpPr/>
          <p:nvPr/>
        </p:nvSpPr>
        <p:spPr>
          <a:xfrm>
            <a:off x="8046720" y="35661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2"/>
          <p:cNvSpPr/>
          <p:nvPr/>
        </p:nvSpPr>
        <p:spPr>
          <a:xfrm>
            <a:off x="8412480" y="352958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imagem com alt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2"/>
          <p:cNvSpPr/>
          <p:nvPr/>
        </p:nvSpPr>
        <p:spPr>
          <a:xfrm>
            <a:off x="8046720" y="420624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2"/>
          <p:cNvSpPr/>
          <p:nvPr/>
        </p:nvSpPr>
        <p:spPr>
          <a:xfrm>
            <a:off x="8412480" y="416966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validação final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2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W3C Validator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2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42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1" name="Google Shape;761;p42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3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Gabarito comentado da atividade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3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Uma solução possível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3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 solução deve ter estrutura mínima válida e lang="pt-BR".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header deve conter h1 e nav com links internos.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 main deve reunir seções com títulos coerentes.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 imagem deve ter src correto e alt contextualizado.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3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3"/>
          <p:cNvSpPr/>
          <p:nvPr/>
        </p:nvSpPr>
        <p:spPr>
          <a:xfrm>
            <a:off x="7927848" y="1435608"/>
            <a:ext cx="3483864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Estrutura esperada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3"/>
          <p:cNvSpPr/>
          <p:nvPr/>
        </p:nvSpPr>
        <p:spPr>
          <a:xfrm>
            <a:off x="7927848" y="1737360"/>
            <a:ext cx="3483864" cy="3813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375" lIns="1375" spcFirstLastPara="1" rIns="1375" wrap="square" tIns="1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&lt;header&gt;&lt;h1&gt;Projeto X&lt;/h1&gt;&lt;nav&gt;...&lt;/nav&gt;&lt;/header&gt;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&lt;main&gt;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&lt;section id="resumo"&gt;&lt;h2&gt;Resumo&lt;/h2&gt;...&lt;/section&gt;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&lt;section id="objetivos"&gt;&lt;h2&gt;Objetivos&lt;/h2&gt;&lt;ul&gt;...&lt;/ul&gt;&lt;/section&gt;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&lt;section id="equipe"&gt;&lt;h2&gt;Equipe&lt;/h2&gt;&lt;article&gt;...&lt;/article&gt;&lt;/section&gt;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&lt;/main&gt;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&lt;footer&gt;Contato e referências&lt;/footer&gt;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3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estruturar documentos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3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43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5" name="Google Shape;775;p43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4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Síntese da aula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4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Revisão final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4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HTML organiza significado, não apenas aparência.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Títulos, seções, listas, links e imagens formam a base de páginas web.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Semântica melhora manutenção, acessibilidade e interpretação por ferramentas.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Validação e inspeção ajudam a encontrar problemas cedo.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4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4"/>
          <p:cNvSpPr/>
          <p:nvPr/>
        </p:nvSpPr>
        <p:spPr>
          <a:xfrm>
            <a:off x="8138160" y="1444752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estrutura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6" name="Google Shape;786;p44"/>
          <p:cNvCxnSpPr/>
          <p:nvPr/>
        </p:nvCxnSpPr>
        <p:spPr>
          <a:xfrm>
            <a:off x="9669780" y="2172614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7" name="Google Shape;787;p44"/>
          <p:cNvSpPr/>
          <p:nvPr/>
        </p:nvSpPr>
        <p:spPr>
          <a:xfrm>
            <a:off x="8138160" y="2318918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semântica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44"/>
          <p:cNvCxnSpPr/>
          <p:nvPr/>
        </p:nvCxnSpPr>
        <p:spPr>
          <a:xfrm>
            <a:off x="9669780" y="3046781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9" name="Google Shape;789;p44"/>
          <p:cNvSpPr/>
          <p:nvPr/>
        </p:nvSpPr>
        <p:spPr>
          <a:xfrm>
            <a:off x="8138160" y="3193085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acessibilidade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0" name="Google Shape;790;p44"/>
          <p:cNvCxnSpPr/>
          <p:nvPr/>
        </p:nvCxnSpPr>
        <p:spPr>
          <a:xfrm>
            <a:off x="9669780" y="3920947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1" name="Google Shape;791;p44"/>
          <p:cNvSpPr/>
          <p:nvPr/>
        </p:nvSpPr>
        <p:spPr>
          <a:xfrm>
            <a:off x="8138160" y="4067251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44"/>
          <p:cNvCxnSpPr/>
          <p:nvPr/>
        </p:nvCxnSpPr>
        <p:spPr>
          <a:xfrm>
            <a:off x="9669780" y="4795114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3" name="Google Shape;793;p44"/>
          <p:cNvSpPr/>
          <p:nvPr/>
        </p:nvSpPr>
        <p:spPr>
          <a:xfrm>
            <a:off x="8138160" y="4941418"/>
            <a:ext cx="3063240" cy="70957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4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4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44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p44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5"/>
          <p:cNvSpPr/>
          <p:nvPr/>
        </p:nvSpPr>
        <p:spPr>
          <a:xfrm>
            <a:off x="502920" y="201168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Referências consultadas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5"/>
          <p:cNvSpPr/>
          <p:nvPr/>
        </p:nvSpPr>
        <p:spPr>
          <a:xfrm>
            <a:off x="530352" y="722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Tópico: Fontes para estudo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548640" y="1115568"/>
            <a:ext cx="6812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MDN Web Docs: conceitos, elementos HTML e acessibilidade.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W3C WAI: estrutura de conteúdo e texto alternativo em imagens.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W3C Validator / Nu Html Checker: validação de marcação HTML.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Microsoft Learn e VS Code Docs: prática com editor e navegador.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7726680" y="1143000"/>
            <a:ext cx="388620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45"/>
          <p:cNvSpPr/>
          <p:nvPr/>
        </p:nvSpPr>
        <p:spPr>
          <a:xfrm>
            <a:off x="8046720" y="164592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5"/>
          <p:cNvSpPr/>
          <p:nvPr/>
        </p:nvSpPr>
        <p:spPr>
          <a:xfrm>
            <a:off x="8412480" y="160934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MDN Web Docs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5"/>
          <p:cNvSpPr/>
          <p:nvPr/>
        </p:nvSpPr>
        <p:spPr>
          <a:xfrm>
            <a:off x="8046720" y="228600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5"/>
          <p:cNvSpPr/>
          <p:nvPr/>
        </p:nvSpPr>
        <p:spPr>
          <a:xfrm>
            <a:off x="8412480" y="224942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W3C WAI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5"/>
          <p:cNvSpPr/>
          <p:nvPr/>
        </p:nvSpPr>
        <p:spPr>
          <a:xfrm>
            <a:off x="8046720" y="292608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5"/>
          <p:cNvSpPr/>
          <p:nvPr/>
        </p:nvSpPr>
        <p:spPr>
          <a:xfrm>
            <a:off x="8412480" y="288950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W3C Validator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5"/>
          <p:cNvSpPr/>
          <p:nvPr/>
        </p:nvSpPr>
        <p:spPr>
          <a:xfrm>
            <a:off x="8046720" y="35661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5"/>
          <p:cNvSpPr/>
          <p:nvPr/>
        </p:nvSpPr>
        <p:spPr>
          <a:xfrm>
            <a:off x="8412480" y="352958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VS Code Docs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5"/>
          <p:cNvSpPr/>
          <p:nvPr/>
        </p:nvSpPr>
        <p:spPr>
          <a:xfrm>
            <a:off x="8046720" y="420624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5"/>
          <p:cNvSpPr/>
          <p:nvPr/>
        </p:nvSpPr>
        <p:spPr>
          <a:xfrm>
            <a:off x="8412480" y="416966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Microsoft Learn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5">
            <a:hlinkClick r:id="rId3"/>
          </p:cNvPr>
          <p:cNvSpPr/>
          <p:nvPr/>
        </p:nvSpPr>
        <p:spPr>
          <a:xfrm>
            <a:off x="566928" y="589788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3C7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0B63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recomendado: MDN: referência de elementos 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5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professor Msc Elionai Magalhães – 45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45"/>
          <p:cNvCxnSpPr/>
          <p:nvPr/>
        </p:nvCxnSpPr>
        <p:spPr>
          <a:xfrm>
            <a:off x="320040" y="6382512"/>
            <a:ext cx="115488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2026-08-14T01:51:26Z</dcterms:created>
  <dc:creator>Professor Msc Elionai Magalhães</dc:creator>
</cp:coreProperties>
</file>